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3"/>
    <p:sldId id="330" r:id="rId4"/>
    <p:sldId id="328" r:id="rId5"/>
    <p:sldId id="331" r:id="rId6"/>
    <p:sldId id="332" r:id="rId7"/>
    <p:sldId id="287" r:id="rId8"/>
    <p:sldId id="338" r:id="rId9"/>
    <p:sldId id="288" r:id="rId10"/>
    <p:sldId id="339" r:id="rId11"/>
    <p:sldId id="333" r:id="rId12"/>
    <p:sldId id="343" r:id="rId13"/>
    <p:sldId id="289" r:id="rId14"/>
    <p:sldId id="334" r:id="rId15"/>
    <p:sldId id="340" r:id="rId16"/>
    <p:sldId id="341" r:id="rId17"/>
    <p:sldId id="344" r:id="rId18"/>
    <p:sldId id="335" r:id="rId19"/>
    <p:sldId id="359" r:id="rId20"/>
    <p:sldId id="257" r:id="rId21"/>
    <p:sldId id="258" r:id="rId22"/>
    <p:sldId id="261" r:id="rId23"/>
    <p:sldId id="342" r:id="rId24"/>
    <p:sldId id="259" r:id="rId25"/>
    <p:sldId id="263" r:id="rId26"/>
    <p:sldId id="346" r:id="rId27"/>
    <p:sldId id="262" r:id="rId28"/>
    <p:sldId id="264" r:id="rId29"/>
    <p:sldId id="265" r:id="rId30"/>
    <p:sldId id="353" r:id="rId31"/>
    <p:sldId id="336" r:id="rId32"/>
    <p:sldId id="345" r:id="rId33"/>
    <p:sldId id="347" r:id="rId34"/>
    <p:sldId id="348" r:id="rId35"/>
    <p:sldId id="350" r:id="rId36"/>
    <p:sldId id="349" r:id="rId38"/>
    <p:sldId id="351" r:id="rId39"/>
    <p:sldId id="272" r:id="rId40"/>
    <p:sldId id="352" r:id="rId41"/>
    <p:sldId id="337" r:id="rId42"/>
    <p:sldId id="266" r:id="rId43"/>
    <p:sldId id="267" r:id="rId44"/>
    <p:sldId id="268" r:id="rId45"/>
    <p:sldId id="354" r:id="rId46"/>
    <p:sldId id="271" r:id="rId47"/>
    <p:sldId id="270" r:id="rId48"/>
    <p:sldId id="269" r:id="rId49"/>
    <p:sldId id="358" r:id="rId50"/>
    <p:sldId id="290" r:id="rId51"/>
    <p:sldId id="356" r:id="rId52"/>
    <p:sldId id="35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5226" autoAdjust="0"/>
  </p:normalViewPr>
  <p:slideViewPr>
    <p:cSldViewPr snapToGrid="0">
      <p:cViewPr varScale="1">
        <p:scale>
          <a:sx n="84" d="100"/>
          <a:sy n="84" d="100"/>
        </p:scale>
        <p:origin x="120" y="4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272BD8-DDBB-43C4-A02A-7BF335854091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37E3606-3181-4DEB-A768-223B10660263}">
      <dgm:prSet phldrT="[Văn bản]" custT="1"/>
      <dgm:spPr/>
      <dgm:t>
        <a:bodyPr/>
        <a:lstStyle/>
        <a:p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Build Process</a:t>
          </a:r>
        </a:p>
      </dgm:t>
    </dgm:pt>
    <dgm:pt modelId="{FFAE5F6E-D7C2-424E-8228-619080234029}" cxnId="{653841C0-3776-4AEF-9578-C4FA6416BBF7}" type="parTrans">
      <dgm:prSet/>
      <dgm:spPr/>
      <dgm:t>
        <a:bodyPr/>
        <a:lstStyle/>
        <a:p>
          <a:endParaRPr lang="en-US"/>
        </a:p>
      </dgm:t>
    </dgm:pt>
    <dgm:pt modelId="{6CE286F8-8D38-4DBC-846E-C365F1D05377}" cxnId="{653841C0-3776-4AEF-9578-C4FA6416BBF7}" type="sibTrans">
      <dgm:prSet/>
      <dgm:spPr/>
      <dgm:t>
        <a:bodyPr/>
        <a:lstStyle/>
        <a:p>
          <a:endParaRPr lang="en-US"/>
        </a:p>
      </dgm:t>
    </dgm:pt>
    <dgm:pt modelId="{05DCBA08-E2F5-4AD9-B8BB-0834A44993FD}">
      <dgm:prSet phldrT="[Văn bản]" custT="1"/>
      <dgm:spPr/>
      <dgm:t>
        <a:bodyPr/>
        <a:lstStyle/>
        <a:p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GCC – Command Line</a:t>
          </a:r>
        </a:p>
      </dgm:t>
    </dgm:pt>
    <dgm:pt modelId="{9E3AE70C-2862-4D5B-86B9-7F2CCAB5B9ED}" cxnId="{F0358378-C7C5-48B3-93AF-EC0A87B9E1F6}" type="parTrans">
      <dgm:prSet/>
      <dgm:spPr/>
      <dgm:t>
        <a:bodyPr/>
        <a:lstStyle/>
        <a:p>
          <a:endParaRPr lang="en-US"/>
        </a:p>
      </dgm:t>
    </dgm:pt>
    <dgm:pt modelId="{BE4EB907-9A85-4DEB-8D86-7E6B82A7B784}" cxnId="{F0358378-C7C5-48B3-93AF-EC0A87B9E1F6}" type="sibTrans">
      <dgm:prSet/>
      <dgm:spPr/>
      <dgm:t>
        <a:bodyPr/>
        <a:lstStyle/>
        <a:p>
          <a:endParaRPr lang="en-US"/>
        </a:p>
      </dgm:t>
    </dgm:pt>
    <dgm:pt modelId="{11868302-C17E-4844-B79C-8E98B7CA5C00}">
      <dgm:prSet phldrT="[Văn bản]" custT="1"/>
      <dgm:spPr/>
      <dgm:t>
        <a:bodyPr/>
        <a:lstStyle/>
        <a:p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Makefile Vi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điều</a:t>
          </a: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khiển</a:t>
          </a:r>
          <a:endParaRPr lang="en-US" sz="3600" dirty="0">
            <a:solidFill>
              <a:schemeClr val="tx1"/>
            </a:solidFill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9FFA4F30-C59B-49E5-8F0E-AD4F937DB93B}" cxnId="{E245C63C-5894-46D1-ADE8-1B77E9B740A2}" type="parTrans">
      <dgm:prSet/>
      <dgm:spPr/>
      <dgm:t>
        <a:bodyPr/>
        <a:lstStyle/>
        <a:p>
          <a:endParaRPr lang="en-US"/>
        </a:p>
      </dgm:t>
    </dgm:pt>
    <dgm:pt modelId="{7CC8FD90-721D-4106-8EEF-C29186FE9EAB}" cxnId="{E245C63C-5894-46D1-ADE8-1B77E9B740A2}" type="sibTrans">
      <dgm:prSet/>
      <dgm:spPr/>
      <dgm:t>
        <a:bodyPr/>
        <a:lstStyle/>
        <a:p>
          <a:endParaRPr lang="en-US"/>
        </a:p>
      </dgm:t>
    </dgm:pt>
    <dgm:pt modelId="{827AE65C-96EE-45C0-932F-5A48C98ECFF3}">
      <dgm:prSet phldrT="[Văn bản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Tổng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quát</a:t>
          </a: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hóa</a:t>
          </a: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 Makefile</a:t>
          </a:r>
        </a:p>
      </dgm:t>
    </dgm:pt>
    <dgm:pt modelId="{C708CFF0-AE31-419E-90AA-77EBE31A60B3}" cxnId="{AA83F217-C44E-404B-A53B-23AF5666FDD4}" type="parTrans">
      <dgm:prSet/>
      <dgm:spPr/>
      <dgm:t>
        <a:bodyPr/>
        <a:lstStyle/>
        <a:p>
          <a:endParaRPr lang="en-US"/>
        </a:p>
      </dgm:t>
    </dgm:pt>
    <dgm:pt modelId="{9A6B95F5-1B20-4792-8131-592DAD7CB6C3}" cxnId="{AA83F217-C44E-404B-A53B-23AF5666FDD4}" type="sibTrans">
      <dgm:prSet/>
      <dgm:spPr/>
      <dgm:t>
        <a:bodyPr/>
        <a:lstStyle/>
        <a:p>
          <a:endParaRPr lang="en-US"/>
        </a:p>
      </dgm:t>
    </dgm:pt>
    <dgm:pt modelId="{AD25CEBC-EC0B-4EA0-B4F6-DB0B96D8DA71}">
      <dgm:prSet phldrT="[Văn bản]" custT="1"/>
      <dgm:spPr/>
      <dgm:t>
        <a:bodyPr/>
        <a:lstStyle/>
        <a:p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Chương trình Makefile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đơn</a:t>
          </a: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 giản</a:t>
          </a:r>
        </a:p>
      </dgm:t>
    </dgm:pt>
    <dgm:pt modelId="{5FCCA3DA-A463-41D2-A088-BF540497176F}" cxnId="{22786091-0B58-4228-B093-61E3D1B1BA1A}" type="parTrans">
      <dgm:prSet/>
      <dgm:spPr/>
      <dgm:t>
        <a:bodyPr/>
        <a:lstStyle/>
        <a:p>
          <a:endParaRPr lang="en-US"/>
        </a:p>
      </dgm:t>
    </dgm:pt>
    <dgm:pt modelId="{A6C003CB-DE88-4E14-90F2-28A9DC68F232}" cxnId="{22786091-0B58-4228-B093-61E3D1B1BA1A}" type="sibTrans">
      <dgm:prSet/>
      <dgm:spPr/>
      <dgm:t>
        <a:bodyPr/>
        <a:lstStyle/>
        <a:p>
          <a:endParaRPr lang="en-US"/>
        </a:p>
      </dgm:t>
    </dgm:pt>
    <dgm:pt modelId="{E4AE399C-CFBD-45FE-9B3B-BCBB1B138C80}" type="pres">
      <dgm:prSet presAssocID="{AC272BD8-DDBB-43C4-A02A-7BF335854091}" presName="Name0" presStyleCnt="0">
        <dgm:presLayoutVars>
          <dgm:chMax val="7"/>
          <dgm:chPref val="7"/>
          <dgm:dir/>
        </dgm:presLayoutVars>
      </dgm:prSet>
      <dgm:spPr/>
    </dgm:pt>
    <dgm:pt modelId="{35FFA338-4580-48E5-B698-3442BAF5A47B}" type="pres">
      <dgm:prSet presAssocID="{AC272BD8-DDBB-43C4-A02A-7BF335854091}" presName="Name1" presStyleCnt="0"/>
      <dgm:spPr/>
    </dgm:pt>
    <dgm:pt modelId="{8BC16E21-6CC0-49E1-BEEB-851FBD2AEAC3}" type="pres">
      <dgm:prSet presAssocID="{AC272BD8-DDBB-43C4-A02A-7BF335854091}" presName="cycle" presStyleCnt="0"/>
      <dgm:spPr/>
    </dgm:pt>
    <dgm:pt modelId="{7489FD50-9ABF-4C39-A292-430A345864D3}" type="pres">
      <dgm:prSet presAssocID="{AC272BD8-DDBB-43C4-A02A-7BF335854091}" presName="srcNode" presStyleLbl="node1" presStyleIdx="0" presStyleCnt="5"/>
      <dgm:spPr/>
    </dgm:pt>
    <dgm:pt modelId="{B5B74013-B4EB-4C9A-82FF-06CFF3632E56}" type="pres">
      <dgm:prSet presAssocID="{AC272BD8-DDBB-43C4-A02A-7BF335854091}" presName="conn" presStyleLbl="parChTrans1D2" presStyleIdx="0" presStyleCnt="1"/>
      <dgm:spPr/>
    </dgm:pt>
    <dgm:pt modelId="{66B65350-021E-405C-B16E-9D5C7ED32A23}" type="pres">
      <dgm:prSet presAssocID="{AC272BD8-DDBB-43C4-A02A-7BF335854091}" presName="extraNode" presStyleLbl="node1" presStyleIdx="0" presStyleCnt="5"/>
      <dgm:spPr/>
    </dgm:pt>
    <dgm:pt modelId="{2AA6A1DD-36F4-4442-B39A-5FB7991A7B9F}" type="pres">
      <dgm:prSet presAssocID="{AC272BD8-DDBB-43C4-A02A-7BF335854091}" presName="dstNode" presStyleLbl="node1" presStyleIdx="0" presStyleCnt="5"/>
      <dgm:spPr/>
    </dgm:pt>
    <dgm:pt modelId="{5E3D666E-F253-4467-A4EE-9A3103C1EF88}" type="pres">
      <dgm:prSet presAssocID="{D37E3606-3181-4DEB-A768-223B10660263}" presName="text_1" presStyleLbl="node1" presStyleIdx="0" presStyleCnt="5">
        <dgm:presLayoutVars>
          <dgm:bulletEnabled val="1"/>
        </dgm:presLayoutVars>
      </dgm:prSet>
      <dgm:spPr/>
    </dgm:pt>
    <dgm:pt modelId="{1C9974D9-3897-4807-9C63-34A050BE6E73}" type="pres">
      <dgm:prSet presAssocID="{D37E3606-3181-4DEB-A768-223B10660263}" presName="accent_1" presStyleCnt="0"/>
      <dgm:spPr/>
    </dgm:pt>
    <dgm:pt modelId="{676E0A4B-7214-4A20-BCAA-AB8789333FEC}" type="pres">
      <dgm:prSet presAssocID="{D37E3606-3181-4DEB-A768-223B10660263}" presName="accentRepeatNode" presStyleLbl="solidFgAcc1" presStyleIdx="0" presStyleCnt="5"/>
      <dgm:spPr/>
    </dgm:pt>
    <dgm:pt modelId="{F044DA93-298B-46C1-AD98-7120EF3FE697}" type="pres">
      <dgm:prSet presAssocID="{05DCBA08-E2F5-4AD9-B8BB-0834A44993FD}" presName="text_2" presStyleLbl="node1" presStyleIdx="1" presStyleCnt="5">
        <dgm:presLayoutVars>
          <dgm:bulletEnabled val="1"/>
        </dgm:presLayoutVars>
      </dgm:prSet>
      <dgm:spPr/>
    </dgm:pt>
    <dgm:pt modelId="{A8838E2F-E693-469C-B7FE-36AE6D795E40}" type="pres">
      <dgm:prSet presAssocID="{05DCBA08-E2F5-4AD9-B8BB-0834A44993FD}" presName="accent_2" presStyleCnt="0"/>
      <dgm:spPr/>
    </dgm:pt>
    <dgm:pt modelId="{3075892E-2971-4B6A-B264-CF2980944CBD}" type="pres">
      <dgm:prSet presAssocID="{05DCBA08-E2F5-4AD9-B8BB-0834A44993FD}" presName="accentRepeatNode" presStyleLbl="solidFgAcc1" presStyleIdx="1" presStyleCnt="5"/>
      <dgm:spPr/>
    </dgm:pt>
    <dgm:pt modelId="{57C00863-FB20-461B-B8E3-281100200E6D}" type="pres">
      <dgm:prSet presAssocID="{AD25CEBC-EC0B-4EA0-B4F6-DB0B96D8DA71}" presName="text_3" presStyleLbl="node1" presStyleIdx="2" presStyleCnt="5">
        <dgm:presLayoutVars>
          <dgm:bulletEnabled val="1"/>
        </dgm:presLayoutVars>
      </dgm:prSet>
      <dgm:spPr/>
    </dgm:pt>
    <dgm:pt modelId="{BBA272B6-155A-469C-8E9B-20B19BD707D5}" type="pres">
      <dgm:prSet presAssocID="{AD25CEBC-EC0B-4EA0-B4F6-DB0B96D8DA71}" presName="accent_3" presStyleCnt="0"/>
      <dgm:spPr/>
    </dgm:pt>
    <dgm:pt modelId="{580B9F3C-64DB-4813-B46D-EF4885EDDCE9}" type="pres">
      <dgm:prSet presAssocID="{AD25CEBC-EC0B-4EA0-B4F6-DB0B96D8DA71}" presName="accentRepeatNode" presStyleLbl="solidFgAcc1" presStyleIdx="2" presStyleCnt="5"/>
      <dgm:spPr/>
    </dgm:pt>
    <dgm:pt modelId="{6B2A9B63-296D-4BB9-B818-1EFB1CDBA47F}" type="pres">
      <dgm:prSet presAssocID="{11868302-C17E-4844-B79C-8E98B7CA5C00}" presName="text_4" presStyleLbl="node1" presStyleIdx="3" presStyleCnt="5">
        <dgm:presLayoutVars>
          <dgm:bulletEnabled val="1"/>
        </dgm:presLayoutVars>
      </dgm:prSet>
      <dgm:spPr/>
    </dgm:pt>
    <dgm:pt modelId="{A6C5F4F6-5A68-4639-9859-2035579B92C4}" type="pres">
      <dgm:prSet presAssocID="{11868302-C17E-4844-B79C-8E98B7CA5C00}" presName="accent_4" presStyleCnt="0"/>
      <dgm:spPr/>
    </dgm:pt>
    <dgm:pt modelId="{9EB26E88-D803-4D94-BD0A-A8BA12FE5B7B}" type="pres">
      <dgm:prSet presAssocID="{11868302-C17E-4844-B79C-8E98B7CA5C00}" presName="accentRepeatNode" presStyleLbl="solidFgAcc1" presStyleIdx="3" presStyleCnt="5"/>
      <dgm:spPr/>
    </dgm:pt>
    <dgm:pt modelId="{8EEF3808-F233-4BA7-B6C3-943AF75154EC}" type="pres">
      <dgm:prSet presAssocID="{827AE65C-96EE-45C0-932F-5A48C98ECFF3}" presName="text_5" presStyleLbl="node1" presStyleIdx="4" presStyleCnt="5">
        <dgm:presLayoutVars>
          <dgm:bulletEnabled val="1"/>
        </dgm:presLayoutVars>
      </dgm:prSet>
      <dgm:spPr/>
    </dgm:pt>
    <dgm:pt modelId="{6C89ADB1-7B77-4987-B8BC-6ACBCCEBDF99}" type="pres">
      <dgm:prSet presAssocID="{827AE65C-96EE-45C0-932F-5A48C98ECFF3}" presName="accent_5" presStyleCnt="0"/>
      <dgm:spPr/>
    </dgm:pt>
    <dgm:pt modelId="{A487D311-2DFC-49AF-A9FA-C71F7458F81C}" type="pres">
      <dgm:prSet presAssocID="{827AE65C-96EE-45C0-932F-5A48C98ECFF3}" presName="accentRepeatNode" presStyleLbl="solidFgAcc1" presStyleIdx="4" presStyleCnt="5"/>
      <dgm:spPr/>
    </dgm:pt>
  </dgm:ptLst>
  <dgm:cxnLst>
    <dgm:cxn modelId="{AA83F217-C44E-404B-A53B-23AF5666FDD4}" srcId="{AC272BD8-DDBB-43C4-A02A-7BF335854091}" destId="{827AE65C-96EE-45C0-932F-5A48C98ECFF3}" srcOrd="4" destOrd="0" parTransId="{C708CFF0-AE31-419E-90AA-77EBE31A60B3}" sibTransId="{9A6B95F5-1B20-4792-8131-592DAD7CB6C3}"/>
    <dgm:cxn modelId="{3B3B3718-B265-4209-962C-FE2CE9460313}" type="presOf" srcId="{05DCBA08-E2F5-4AD9-B8BB-0834A44993FD}" destId="{F044DA93-298B-46C1-AD98-7120EF3FE697}" srcOrd="0" destOrd="0" presId="urn:microsoft.com/office/officeart/2008/layout/VerticalCurvedList"/>
    <dgm:cxn modelId="{2C54FF1E-95E8-4020-85AC-845B1A7F5C82}" type="presOf" srcId="{6CE286F8-8D38-4DBC-846E-C365F1D05377}" destId="{B5B74013-B4EB-4C9A-82FF-06CFF3632E56}" srcOrd="0" destOrd="0" presId="urn:microsoft.com/office/officeart/2008/layout/VerticalCurvedList"/>
    <dgm:cxn modelId="{E245C63C-5894-46D1-ADE8-1B77E9B740A2}" srcId="{AC272BD8-DDBB-43C4-A02A-7BF335854091}" destId="{11868302-C17E-4844-B79C-8E98B7CA5C00}" srcOrd="3" destOrd="0" parTransId="{9FFA4F30-C59B-49E5-8F0E-AD4F937DB93B}" sibTransId="{7CC8FD90-721D-4106-8EEF-C29186FE9EAB}"/>
    <dgm:cxn modelId="{DDD8766D-6EAE-4D7E-AE9D-76E3CD31C1CE}" type="presOf" srcId="{AC272BD8-DDBB-43C4-A02A-7BF335854091}" destId="{E4AE399C-CFBD-45FE-9B3B-BCBB1B138C80}" srcOrd="0" destOrd="0" presId="urn:microsoft.com/office/officeart/2008/layout/VerticalCurvedList"/>
    <dgm:cxn modelId="{7F0F0151-C26E-4AD6-86A7-16C4CE06292B}" type="presOf" srcId="{D37E3606-3181-4DEB-A768-223B10660263}" destId="{5E3D666E-F253-4467-A4EE-9A3103C1EF88}" srcOrd="0" destOrd="0" presId="urn:microsoft.com/office/officeart/2008/layout/VerticalCurvedList"/>
    <dgm:cxn modelId="{F0358378-C7C5-48B3-93AF-EC0A87B9E1F6}" srcId="{AC272BD8-DDBB-43C4-A02A-7BF335854091}" destId="{05DCBA08-E2F5-4AD9-B8BB-0834A44993FD}" srcOrd="1" destOrd="0" parTransId="{9E3AE70C-2862-4D5B-86B9-7F2CCAB5B9ED}" sibTransId="{BE4EB907-9A85-4DEB-8D86-7E6B82A7B784}"/>
    <dgm:cxn modelId="{9520E27D-AEF3-440A-95C5-EAFA15DF7725}" type="presOf" srcId="{827AE65C-96EE-45C0-932F-5A48C98ECFF3}" destId="{8EEF3808-F233-4BA7-B6C3-943AF75154EC}" srcOrd="0" destOrd="0" presId="urn:microsoft.com/office/officeart/2008/layout/VerticalCurvedList"/>
    <dgm:cxn modelId="{32A7B385-6D22-4BE1-B7D0-99E581214D13}" type="presOf" srcId="{11868302-C17E-4844-B79C-8E98B7CA5C00}" destId="{6B2A9B63-296D-4BB9-B818-1EFB1CDBA47F}" srcOrd="0" destOrd="0" presId="urn:microsoft.com/office/officeart/2008/layout/VerticalCurvedList"/>
    <dgm:cxn modelId="{22786091-0B58-4228-B093-61E3D1B1BA1A}" srcId="{AC272BD8-DDBB-43C4-A02A-7BF335854091}" destId="{AD25CEBC-EC0B-4EA0-B4F6-DB0B96D8DA71}" srcOrd="2" destOrd="0" parTransId="{5FCCA3DA-A463-41D2-A088-BF540497176F}" sibTransId="{A6C003CB-DE88-4E14-90F2-28A9DC68F232}"/>
    <dgm:cxn modelId="{653841C0-3776-4AEF-9578-C4FA6416BBF7}" srcId="{AC272BD8-DDBB-43C4-A02A-7BF335854091}" destId="{D37E3606-3181-4DEB-A768-223B10660263}" srcOrd="0" destOrd="0" parTransId="{FFAE5F6E-D7C2-424E-8228-619080234029}" sibTransId="{6CE286F8-8D38-4DBC-846E-C365F1D05377}"/>
    <dgm:cxn modelId="{B3E506F6-525A-4D9F-B1B0-A1C4B53578EB}" type="presOf" srcId="{AD25CEBC-EC0B-4EA0-B4F6-DB0B96D8DA71}" destId="{57C00863-FB20-461B-B8E3-281100200E6D}" srcOrd="0" destOrd="0" presId="urn:microsoft.com/office/officeart/2008/layout/VerticalCurvedList"/>
    <dgm:cxn modelId="{145E3ECA-CEB8-48D4-848B-7A15D23B60E9}" type="presParOf" srcId="{E4AE399C-CFBD-45FE-9B3B-BCBB1B138C80}" destId="{35FFA338-4580-48E5-B698-3442BAF5A47B}" srcOrd="0" destOrd="0" presId="urn:microsoft.com/office/officeart/2008/layout/VerticalCurvedList"/>
    <dgm:cxn modelId="{9622CAA9-D5DB-4DB8-B772-8377DAA2A55C}" type="presParOf" srcId="{35FFA338-4580-48E5-B698-3442BAF5A47B}" destId="{8BC16E21-6CC0-49E1-BEEB-851FBD2AEAC3}" srcOrd="0" destOrd="0" presId="urn:microsoft.com/office/officeart/2008/layout/VerticalCurvedList"/>
    <dgm:cxn modelId="{C2D765ED-4C9E-4CE8-B033-5A668290152C}" type="presParOf" srcId="{8BC16E21-6CC0-49E1-BEEB-851FBD2AEAC3}" destId="{7489FD50-9ABF-4C39-A292-430A345864D3}" srcOrd="0" destOrd="0" presId="urn:microsoft.com/office/officeart/2008/layout/VerticalCurvedList"/>
    <dgm:cxn modelId="{2DEC359E-5B6D-4B89-B317-F27CAA9D801F}" type="presParOf" srcId="{8BC16E21-6CC0-49E1-BEEB-851FBD2AEAC3}" destId="{B5B74013-B4EB-4C9A-82FF-06CFF3632E56}" srcOrd="1" destOrd="0" presId="urn:microsoft.com/office/officeart/2008/layout/VerticalCurvedList"/>
    <dgm:cxn modelId="{290D0217-33EB-4B12-BA64-1ED790526A27}" type="presParOf" srcId="{8BC16E21-6CC0-49E1-BEEB-851FBD2AEAC3}" destId="{66B65350-021E-405C-B16E-9D5C7ED32A23}" srcOrd="2" destOrd="0" presId="urn:microsoft.com/office/officeart/2008/layout/VerticalCurvedList"/>
    <dgm:cxn modelId="{6AE8A27E-C65F-4E8E-8989-899DC6382770}" type="presParOf" srcId="{8BC16E21-6CC0-49E1-BEEB-851FBD2AEAC3}" destId="{2AA6A1DD-36F4-4442-B39A-5FB7991A7B9F}" srcOrd="3" destOrd="0" presId="urn:microsoft.com/office/officeart/2008/layout/VerticalCurvedList"/>
    <dgm:cxn modelId="{488A3C32-9F54-43C8-8F51-5D165EDF3556}" type="presParOf" srcId="{35FFA338-4580-48E5-B698-3442BAF5A47B}" destId="{5E3D666E-F253-4467-A4EE-9A3103C1EF88}" srcOrd="1" destOrd="0" presId="urn:microsoft.com/office/officeart/2008/layout/VerticalCurvedList"/>
    <dgm:cxn modelId="{9E2DF077-599E-48DF-90DE-3A252088C3AE}" type="presParOf" srcId="{35FFA338-4580-48E5-B698-3442BAF5A47B}" destId="{1C9974D9-3897-4807-9C63-34A050BE6E73}" srcOrd="2" destOrd="0" presId="urn:microsoft.com/office/officeart/2008/layout/VerticalCurvedList"/>
    <dgm:cxn modelId="{9D7444B1-0249-4935-A077-538D268FF599}" type="presParOf" srcId="{1C9974D9-3897-4807-9C63-34A050BE6E73}" destId="{676E0A4B-7214-4A20-BCAA-AB8789333FEC}" srcOrd="0" destOrd="0" presId="urn:microsoft.com/office/officeart/2008/layout/VerticalCurvedList"/>
    <dgm:cxn modelId="{BCA7A2CF-EFBE-454D-AF73-00F7F5428222}" type="presParOf" srcId="{35FFA338-4580-48E5-B698-3442BAF5A47B}" destId="{F044DA93-298B-46C1-AD98-7120EF3FE697}" srcOrd="3" destOrd="0" presId="urn:microsoft.com/office/officeart/2008/layout/VerticalCurvedList"/>
    <dgm:cxn modelId="{6B572C64-A56B-4941-BA02-1324DBE15930}" type="presParOf" srcId="{35FFA338-4580-48E5-B698-3442BAF5A47B}" destId="{A8838E2F-E693-469C-B7FE-36AE6D795E40}" srcOrd="4" destOrd="0" presId="urn:microsoft.com/office/officeart/2008/layout/VerticalCurvedList"/>
    <dgm:cxn modelId="{BE70C09D-6402-41BC-9FDC-67DB48F8487F}" type="presParOf" srcId="{A8838E2F-E693-469C-B7FE-36AE6D795E40}" destId="{3075892E-2971-4B6A-B264-CF2980944CBD}" srcOrd="0" destOrd="0" presId="urn:microsoft.com/office/officeart/2008/layout/VerticalCurvedList"/>
    <dgm:cxn modelId="{C4FA9B5E-B160-40A2-A297-F761C79A2EF1}" type="presParOf" srcId="{35FFA338-4580-48E5-B698-3442BAF5A47B}" destId="{57C00863-FB20-461B-B8E3-281100200E6D}" srcOrd="5" destOrd="0" presId="urn:microsoft.com/office/officeart/2008/layout/VerticalCurvedList"/>
    <dgm:cxn modelId="{91A1111C-2963-4E03-A14C-2201FA703184}" type="presParOf" srcId="{35FFA338-4580-48E5-B698-3442BAF5A47B}" destId="{BBA272B6-155A-469C-8E9B-20B19BD707D5}" srcOrd="6" destOrd="0" presId="urn:microsoft.com/office/officeart/2008/layout/VerticalCurvedList"/>
    <dgm:cxn modelId="{B1BD469B-3F13-4C5C-A94E-77924FAD3121}" type="presParOf" srcId="{BBA272B6-155A-469C-8E9B-20B19BD707D5}" destId="{580B9F3C-64DB-4813-B46D-EF4885EDDCE9}" srcOrd="0" destOrd="0" presId="urn:microsoft.com/office/officeart/2008/layout/VerticalCurvedList"/>
    <dgm:cxn modelId="{951A4E5B-0C2C-40F8-930D-D0BABEC949D7}" type="presParOf" srcId="{35FFA338-4580-48E5-B698-3442BAF5A47B}" destId="{6B2A9B63-296D-4BB9-B818-1EFB1CDBA47F}" srcOrd="7" destOrd="0" presId="urn:microsoft.com/office/officeart/2008/layout/VerticalCurvedList"/>
    <dgm:cxn modelId="{9E656F6B-5A8D-4AF6-A9B6-380ADB3D4469}" type="presParOf" srcId="{35FFA338-4580-48E5-B698-3442BAF5A47B}" destId="{A6C5F4F6-5A68-4639-9859-2035579B92C4}" srcOrd="8" destOrd="0" presId="urn:microsoft.com/office/officeart/2008/layout/VerticalCurvedList"/>
    <dgm:cxn modelId="{4DFE8351-22F8-4885-99A6-8EAEAD648A01}" type="presParOf" srcId="{A6C5F4F6-5A68-4639-9859-2035579B92C4}" destId="{9EB26E88-D803-4D94-BD0A-A8BA12FE5B7B}" srcOrd="0" destOrd="0" presId="urn:microsoft.com/office/officeart/2008/layout/VerticalCurvedList"/>
    <dgm:cxn modelId="{F7A93A53-DB12-4584-9EC1-0A4DE395590A}" type="presParOf" srcId="{35FFA338-4580-48E5-B698-3442BAF5A47B}" destId="{8EEF3808-F233-4BA7-B6C3-943AF75154EC}" srcOrd="9" destOrd="0" presId="urn:microsoft.com/office/officeart/2008/layout/VerticalCurvedList"/>
    <dgm:cxn modelId="{06D56BC2-DA39-4323-AA5B-27B8CCC9D18C}" type="presParOf" srcId="{35FFA338-4580-48E5-B698-3442BAF5A47B}" destId="{6C89ADB1-7B77-4987-B8BC-6ACBCCEBDF99}" srcOrd="10" destOrd="0" presId="urn:microsoft.com/office/officeart/2008/layout/VerticalCurvedList"/>
    <dgm:cxn modelId="{1A439FAD-0E3E-4F7A-A101-F049A40A58A9}" type="presParOf" srcId="{6C89ADB1-7B77-4987-B8BC-6ACBCCEBDF99}" destId="{A487D311-2DFC-49AF-A9FA-C71F7458F81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431098" cy="4862513"/>
        <a:chOff x="0" y="0"/>
        <a:chExt cx="8431098" cy="4862513"/>
      </a:xfrm>
    </dsp:grpSpPr>
    <dsp:sp modelId="{B5B74013-B4EB-4C9A-82FF-06CFF3632E56}">
      <dsp:nvSpPr>
        <dsp:cNvPr id="4" name="Block Arc 3"/>
        <dsp:cNvSpPr/>
      </dsp:nvSpPr>
      <dsp:spPr bwMode="white">
        <a:xfrm>
          <a:off x="-5442561" y="-854352"/>
          <a:ext cx="6571217" cy="6571217"/>
        </a:xfrm>
        <a:prstGeom prst="blockArc">
          <a:avLst>
            <a:gd name="adj1" fmla="val 18900000"/>
            <a:gd name="adj2" fmla="val 2700000"/>
            <a:gd name="adj3" fmla="val 275"/>
          </a:avLst>
        </a:prstGeom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Xfrm>
        <a:off x="-5442561" y="-854352"/>
        <a:ext cx="6571217" cy="6571217"/>
      </dsp:txXfrm>
    </dsp:sp>
    <dsp:sp modelId="{5E3D666E-F253-4467-A4EE-9A3103C1EF88}">
      <dsp:nvSpPr>
        <dsp:cNvPr id="7" name="Rectangles 6"/>
        <dsp:cNvSpPr/>
      </dsp:nvSpPr>
      <dsp:spPr bwMode="white">
        <a:xfrm>
          <a:off x="526124" y="303810"/>
          <a:ext cx="7904974" cy="608009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82606" tIns="91440" rIns="91440" bIns="9144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Build Process</a:t>
          </a:r>
        </a:p>
      </dsp:txBody>
      <dsp:txXfrm>
        <a:off x="526124" y="303810"/>
        <a:ext cx="7904974" cy="608009"/>
      </dsp:txXfrm>
    </dsp:sp>
    <dsp:sp modelId="{676E0A4B-7214-4A20-BCAA-AB8789333FEC}">
      <dsp:nvSpPr>
        <dsp:cNvPr id="8" name="Oval 7"/>
        <dsp:cNvSpPr/>
      </dsp:nvSpPr>
      <dsp:spPr bwMode="white">
        <a:xfrm>
          <a:off x="146119" y="227809"/>
          <a:ext cx="760011" cy="760011"/>
        </a:xfrm>
        <a:prstGeom prst="ellipse">
          <a:avLst/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146119" y="227809"/>
        <a:ext cx="760011" cy="760011"/>
      </dsp:txXfrm>
    </dsp:sp>
    <dsp:sp modelId="{F044DA93-298B-46C1-AD98-7120EF3FE697}">
      <dsp:nvSpPr>
        <dsp:cNvPr id="9" name="Rectangles 8"/>
        <dsp:cNvSpPr/>
      </dsp:nvSpPr>
      <dsp:spPr bwMode="white">
        <a:xfrm>
          <a:off x="961805" y="1215531"/>
          <a:ext cx="7469293" cy="608009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2445000"/>
            <a:satOff val="-10195"/>
            <a:lumOff val="235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82606" tIns="91440" rIns="91440" bIns="9144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GCC – Command Line</a:t>
          </a:r>
        </a:p>
      </dsp:txBody>
      <dsp:txXfrm>
        <a:off x="961805" y="1215531"/>
        <a:ext cx="7469293" cy="608009"/>
      </dsp:txXfrm>
    </dsp:sp>
    <dsp:sp modelId="{3075892E-2971-4B6A-B264-CF2980944CBD}">
      <dsp:nvSpPr>
        <dsp:cNvPr id="10" name="Oval 9"/>
        <dsp:cNvSpPr/>
      </dsp:nvSpPr>
      <dsp:spPr bwMode="white">
        <a:xfrm>
          <a:off x="581800" y="1139530"/>
          <a:ext cx="760011" cy="760011"/>
        </a:xfrm>
        <a:prstGeom prst="ellipse">
          <a:avLst/>
        </a:prstGeom>
      </dsp:spPr>
      <dsp:style>
        <a:lnRef idx="2">
          <a:schemeClr val="accent4">
            <a:hueOff val="2445000"/>
            <a:satOff val="-10195"/>
            <a:lumOff val="2353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581800" y="1139530"/>
        <a:ext cx="760011" cy="760011"/>
      </dsp:txXfrm>
    </dsp:sp>
    <dsp:sp modelId="{57C00863-FB20-461B-B8E3-281100200E6D}">
      <dsp:nvSpPr>
        <dsp:cNvPr id="11" name="Rectangles 10"/>
        <dsp:cNvSpPr/>
      </dsp:nvSpPr>
      <dsp:spPr bwMode="white">
        <a:xfrm>
          <a:off x="1095524" y="2127252"/>
          <a:ext cx="7335574" cy="608009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4890000"/>
            <a:satOff val="-20391"/>
            <a:lumOff val="470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82606" tIns="91440" rIns="91440" bIns="9144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Chương trình Makefile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đơn</a:t>
          </a: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 giản</a:t>
          </a:r>
        </a:p>
      </dsp:txBody>
      <dsp:txXfrm>
        <a:off x="1095524" y="2127252"/>
        <a:ext cx="7335574" cy="608009"/>
      </dsp:txXfrm>
    </dsp:sp>
    <dsp:sp modelId="{580B9F3C-64DB-4813-B46D-EF4885EDDCE9}">
      <dsp:nvSpPr>
        <dsp:cNvPr id="12" name="Oval 11"/>
        <dsp:cNvSpPr/>
      </dsp:nvSpPr>
      <dsp:spPr bwMode="white">
        <a:xfrm>
          <a:off x="715519" y="2051251"/>
          <a:ext cx="760011" cy="760011"/>
        </a:xfrm>
        <a:prstGeom prst="ellipse">
          <a:avLst/>
        </a:prstGeom>
      </dsp:spPr>
      <dsp:style>
        <a:lnRef idx="2">
          <a:schemeClr val="accent4">
            <a:hueOff val="4890000"/>
            <a:satOff val="-20391"/>
            <a:lumOff val="4706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715519" y="2051251"/>
        <a:ext cx="760011" cy="760011"/>
      </dsp:txXfrm>
    </dsp:sp>
    <dsp:sp modelId="{6B2A9B63-296D-4BB9-B818-1EFB1CDBA47F}">
      <dsp:nvSpPr>
        <dsp:cNvPr id="13" name="Rectangles 12"/>
        <dsp:cNvSpPr/>
      </dsp:nvSpPr>
      <dsp:spPr bwMode="white">
        <a:xfrm>
          <a:off x="961805" y="3038973"/>
          <a:ext cx="7469293" cy="608009"/>
        </a:xfrm>
        <a:prstGeom prst="rect">
          <a:avLst/>
        </a:prstGeom>
      </dsp:spPr>
      <dsp:style>
        <a:lnRef idx="2">
          <a:schemeClr val="lt1"/>
        </a:lnRef>
        <a:fillRef idx="1">
          <a:schemeClr val="accent4">
            <a:hueOff val="7335000"/>
            <a:satOff val="-30587"/>
            <a:lumOff val="705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82606" tIns="91440" rIns="91440" bIns="9144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Makefile Vi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điều</a:t>
          </a: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khiển</a:t>
          </a:r>
          <a:endParaRPr lang="en-US" sz="3600" dirty="0">
            <a:solidFill>
              <a:schemeClr val="tx1"/>
            </a:solidFill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961805" y="3038973"/>
        <a:ext cx="7469293" cy="608009"/>
      </dsp:txXfrm>
    </dsp:sp>
    <dsp:sp modelId="{9EB26E88-D803-4D94-BD0A-A8BA12FE5B7B}">
      <dsp:nvSpPr>
        <dsp:cNvPr id="14" name="Oval 13"/>
        <dsp:cNvSpPr/>
      </dsp:nvSpPr>
      <dsp:spPr bwMode="white">
        <a:xfrm>
          <a:off x="581800" y="2962972"/>
          <a:ext cx="760011" cy="760011"/>
        </a:xfrm>
        <a:prstGeom prst="ellipse">
          <a:avLst/>
        </a:prstGeom>
      </dsp:spPr>
      <dsp:style>
        <a:lnRef idx="2">
          <a:schemeClr val="accent4">
            <a:hueOff val="7335000"/>
            <a:satOff val="-30587"/>
            <a:lumOff val="7059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581800" y="2962972"/>
        <a:ext cx="760011" cy="760011"/>
      </dsp:txXfrm>
    </dsp:sp>
    <dsp:sp modelId="{8EEF3808-F233-4BA7-B6C3-943AF75154EC}">
      <dsp:nvSpPr>
        <dsp:cNvPr id="15" name="Rectangles 14"/>
        <dsp:cNvSpPr/>
      </dsp:nvSpPr>
      <dsp:spPr bwMode="white">
        <a:xfrm>
          <a:off x="526124" y="3950695"/>
          <a:ext cx="7904974" cy="608009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</dsp:spPr>
      <dsp:style>
        <a:lnRef idx="2">
          <a:schemeClr val="lt1"/>
        </a:lnRef>
        <a:fillRef idx="1">
          <a:schemeClr val="accent4">
            <a:hueOff val="9780000"/>
            <a:satOff val="-40783"/>
            <a:lumOff val="941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82606" tIns="91440" rIns="91440" bIns="9144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Tổng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quát</a:t>
          </a: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en-US" sz="3600" dirty="0" err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hóa</a:t>
          </a:r>
          <a:r>
            <a:rPr lang="en-US" sz="3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rPr>
            <a:t> Makefile</a:t>
          </a:r>
        </a:p>
      </dsp:txBody>
      <dsp:txXfrm>
        <a:off x="526124" y="3950695"/>
        <a:ext cx="7904974" cy="608009"/>
      </dsp:txXfrm>
    </dsp:sp>
    <dsp:sp modelId="{A487D311-2DFC-49AF-A9FA-C71F7458F81C}">
      <dsp:nvSpPr>
        <dsp:cNvPr id="16" name="Oval 15"/>
        <dsp:cNvSpPr/>
      </dsp:nvSpPr>
      <dsp:spPr bwMode="white">
        <a:xfrm>
          <a:off x="146119" y="3874693"/>
          <a:ext cx="760011" cy="760011"/>
        </a:xfrm>
        <a:prstGeom prst="ellipse">
          <a:avLst/>
        </a:prstGeom>
      </dsp:spPr>
      <dsp:style>
        <a:lnRef idx="2">
          <a:schemeClr val="accent4">
            <a:hueOff val="9780000"/>
            <a:satOff val="-40783"/>
            <a:lumOff val="9412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Xfrm>
        <a:off x="146119" y="3874693"/>
        <a:ext cx="760011" cy="760011"/>
      </dsp:txXfrm>
    </dsp:sp>
    <dsp:sp modelId="{7489FD50-9ABF-4C39-A292-430A345864D3}">
      <dsp:nvSpPr>
        <dsp:cNvPr id="3" name="Rectangles 2" hidden="1"/>
        <dsp:cNvSpPr/>
      </dsp:nvSpPr>
      <dsp:spPr>
        <a:xfrm>
          <a:off x="135596" y="102708"/>
          <a:ext cx="36000" cy="36000"/>
        </a:xfrm>
        <a:prstGeom prst="rect">
          <a:avLst/>
        </a:prstGeom>
      </dsp:spPr>
      <dsp:txXfrm>
        <a:off x="135596" y="102708"/>
        <a:ext cx="36000" cy="36000"/>
      </dsp:txXfrm>
    </dsp:sp>
    <dsp:sp modelId="{66B65350-021E-405C-B16E-9D5C7ED32A23}">
      <dsp:nvSpPr>
        <dsp:cNvPr id="5" name="Rectangles 4" hidden="1"/>
        <dsp:cNvSpPr/>
      </dsp:nvSpPr>
      <dsp:spPr>
        <a:xfrm>
          <a:off x="1092657" y="2413257"/>
          <a:ext cx="36000" cy="36000"/>
        </a:xfrm>
        <a:prstGeom prst="rect">
          <a:avLst/>
        </a:prstGeom>
      </dsp:spPr>
      <dsp:txXfrm>
        <a:off x="1092657" y="2413257"/>
        <a:ext cx="36000" cy="36000"/>
      </dsp:txXfrm>
    </dsp:sp>
    <dsp:sp modelId="{2AA6A1DD-36F4-4442-B39A-5FB7991A7B9F}">
      <dsp:nvSpPr>
        <dsp:cNvPr id="6" name="Rectangles 5" hidden="1"/>
        <dsp:cNvSpPr/>
      </dsp:nvSpPr>
      <dsp:spPr>
        <a:xfrm>
          <a:off x="135596" y="4723805"/>
          <a:ext cx="36000" cy="36000"/>
        </a:xfrm>
        <a:prstGeom prst="rect">
          <a:avLst/>
        </a:prstGeom>
      </dsp:spPr>
      <dsp:txXfrm>
        <a:off x="135596" y="4723805"/>
        <a:ext cx="36000" cy="36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6D649-0813-4F2D-923C-CAC729DCFE94}" type="datetimeFigureOut">
              <a:rPr lang="en-US" smtClean="0"/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FFE1F-0FF1-4B10-A610-D09E27A47C0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FFE1F-0FF1-4B10-A610-D09E27A47C0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FFE1F-0FF1-4B10-A610-D09E27A47C0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tiêu </a:t>
            </a:r>
            <a:r>
              <a:rPr lang="vi-VN" dirty="0" err="1"/>
              <a:t>đề</a:t>
            </a:r>
            <a:r>
              <a:rPr lang="vi-VN" dirty="0"/>
              <a:t> </a:t>
            </a:r>
            <a:r>
              <a:rPr lang="vi-VN" dirty="0" err="1"/>
              <a:t>phụ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en-US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  <a:endParaRPr lang="vi-VN" dirty="0"/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  <a:endParaRPr lang="vi-VN" dirty="0"/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7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222310"/>
            <a:ext cx="10515600" cy="549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  <a:endParaRPr lang="vi-VN" dirty="0"/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  <a:endParaRPr lang="vi-VN" dirty="0"/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20B6F-9062-4EFE-9E95-E198F95FE0FF}" type="datetimeFigureOut">
              <a:rPr lang="en-US" smtClean="0"/>
            </a:fld>
            <a:endParaRPr lang="en-US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EF37A-4DEF-469A-8593-121ED124482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laptrinhcnhung.blogspot.com/" TargetMode="External"/><Relationship Id="rId2" Type="http://schemas.openxmlformats.org/officeDocument/2006/relationships/hyperlink" Target="https://www.facebook.com/groups/laptrinhdientu" TargetMode="External"/><Relationship Id="rId1" Type="http://schemas.openxmlformats.org/officeDocument/2006/relationships/hyperlink" Target="https://www.facebook.com/nghia12a1" TargetMode="Externa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laptrinhcnhung.blogspot.com/2021/08/LinkerScriptFile.html" TargetMode="External"/><Relationship Id="rId5" Type="http://schemas.openxmlformats.org/officeDocument/2006/relationships/hyperlink" Target="https://laptrinhcnhung.blogspot.com/2021/08/Library.html" TargetMode="External"/><Relationship Id="rId4" Type="http://schemas.openxmlformats.org/officeDocument/2006/relationships/hyperlink" Target="https://laptrinhcnhung.blogspot.com/2021/08/Linking.html" TargetMode="External"/><Relationship Id="rId3" Type="http://schemas.openxmlformats.org/officeDocument/2006/relationships/hyperlink" Target="https://laptrinhcnhung.blogspot.com/2021/08/CrossCompiler.html" TargetMode="External"/><Relationship Id="rId2" Type="http://schemas.openxmlformats.org/officeDocument/2006/relationships/hyperlink" Target="https://laptrinhcnhung.blogspot.com/2021/08/Build.html" TargetMode="External"/><Relationship Id="rId1" Type="http://schemas.openxmlformats.org/officeDocument/2006/relationships/hyperlink" Target="https://laptrinhcnhung.blogspot.com/2021/08/Preprocessor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hyperlink" Target="https://codecute.com/c/cygwin-la-gi-cai-dat-compiler-c-c-cygwin-tren-windows.html" TargetMode="External"/><Relationship Id="rId1" Type="http://schemas.openxmlformats.org/officeDocument/2006/relationships/hyperlink" Target="https://codecute.com/c/huong-dan-cai-dat-trinh-bien-dich-c-c-mingw-gcc.htm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cygwin.com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gnu.org/software/make/manual/make.html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github.com/nghia12a1-t-ara/makefile" TargetMode="External"/><Relationship Id="rId3" Type="http://schemas.openxmlformats.org/officeDocument/2006/relationships/hyperlink" Target="https://www.gnu.org/software/make/manual/make.html" TargetMode="External"/><Relationship Id="rId2" Type="http://schemas.openxmlformats.org/officeDocument/2006/relationships/hyperlink" Target="https://www.st.com/en/development-tools/stsw-link004.html" TargetMode="External"/><Relationship Id="rId1" Type="http://schemas.openxmlformats.org/officeDocument/2006/relationships/hyperlink" Target="https://developer.arm.com/tools-and-software/open-source-software/developer-tools/gnu-toolchain/gnu-rm/downloads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Makefile Course</a:t>
            </a:r>
            <a:endParaRPr lang="en-US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Build Process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hệ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nhúng</a:t>
            </a:r>
            <a:endParaRPr lang="en-US" dirty="0"/>
          </a:p>
          <a:p>
            <a:r>
              <a:rPr lang="en-US" dirty="0"/>
              <a:t>Biết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Compiler GCC</a:t>
            </a:r>
            <a:endParaRPr lang="en-US" dirty="0"/>
          </a:p>
          <a:p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các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Makefile</a:t>
            </a:r>
            <a:endParaRPr lang="en-US" dirty="0"/>
          </a:p>
          <a:p>
            <a:r>
              <a:rPr lang="en-US" dirty="0" err="1"/>
              <a:t>Cách</a:t>
            </a:r>
            <a:r>
              <a:rPr lang="en-US" dirty="0"/>
              <a:t> viết Makefile </a:t>
            </a:r>
            <a:r>
              <a:rPr lang="en-US" dirty="0" err="1"/>
              <a:t>cho</a:t>
            </a:r>
            <a:r>
              <a:rPr lang="en-US" dirty="0"/>
              <a:t> một project Vi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  <a:p>
            <a:r>
              <a:rPr lang="en-US" dirty="0"/>
              <a:t>Tổng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Makefile </a:t>
            </a:r>
            <a:r>
              <a:rPr lang="en-US" dirty="0" err="1"/>
              <a:t>cho</a:t>
            </a:r>
            <a:r>
              <a:rPr lang="en-US" dirty="0"/>
              <a:t> các project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: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  <a:p>
            <a:pPr lvl="1"/>
            <a:r>
              <a:rPr lang="en-US" dirty="0"/>
              <a:t>SĐT/</a:t>
            </a:r>
            <a:r>
              <a:rPr lang="en-US" dirty="0" err="1"/>
              <a:t>Zalo</a:t>
            </a:r>
            <a:r>
              <a:rPr lang="en-US" dirty="0"/>
              <a:t>: 0986.951.957</a:t>
            </a:r>
            <a:endParaRPr lang="en-US" dirty="0"/>
          </a:p>
          <a:p>
            <a:pPr lvl="1"/>
            <a:r>
              <a:rPr lang="en-US" dirty="0"/>
              <a:t>Facebook: </a:t>
            </a:r>
            <a:endParaRPr lang="en-US" dirty="0"/>
          </a:p>
          <a:p>
            <a:pPr lvl="2"/>
            <a:r>
              <a:rPr lang="en-US" dirty="0"/>
              <a:t>Cá </a:t>
            </a:r>
            <a:r>
              <a:rPr lang="en-US" dirty="0" err="1"/>
              <a:t>nhân</a:t>
            </a:r>
            <a:r>
              <a:rPr lang="en-US" dirty="0"/>
              <a:t>: </a:t>
            </a:r>
            <a:r>
              <a:rPr lang="en-US" dirty="0">
                <a:hlinkClick r:id="rId1"/>
              </a:rPr>
              <a:t>https://www.facebook.com/nghia12a1</a:t>
            </a:r>
            <a:endParaRPr lang="en-US" dirty="0"/>
          </a:p>
          <a:p>
            <a:pPr lvl="2"/>
            <a:r>
              <a:rPr lang="en-US" dirty="0" err="1"/>
              <a:t>Nhóm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https://www.facebook.com/groups/laptrinhdientu</a:t>
            </a:r>
            <a:endParaRPr lang="en-US" dirty="0"/>
          </a:p>
          <a:p>
            <a:pPr lvl="1"/>
            <a:r>
              <a:rPr lang="en-US" dirty="0"/>
              <a:t>Blog: </a:t>
            </a:r>
            <a:r>
              <a:rPr lang="en-US" dirty="0">
                <a:hlinkClick r:id="rId3"/>
              </a:rPr>
              <a:t>https://laptrinhcnhung.blogspot.com/</a:t>
            </a:r>
            <a:endParaRPr lang="en-US" dirty="0"/>
          </a:p>
          <a:p>
            <a:endParaRPr lang="en-US" dirty="0"/>
          </a:p>
          <a:p>
            <a:r>
              <a:rPr lang="en-US" dirty="0"/>
              <a:t>Tham khảo: </a:t>
            </a:r>
            <a:endParaRPr lang="en-US" dirty="0"/>
          </a:p>
          <a:p>
            <a:pPr lvl="1"/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Makefile GNU</a:t>
            </a:r>
            <a:endParaRPr lang="en-US" dirty="0"/>
          </a:p>
          <a:p>
            <a:r>
              <a:rPr lang="en-US" dirty="0"/>
              <a:t>Slide giữ các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/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tiếng </a:t>
            </a:r>
            <a:r>
              <a:rPr lang="en-US" dirty="0" err="1"/>
              <a:t>anh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  <a:endParaRPr lang="en-US" dirty="0"/>
          </a:p>
        </p:txBody>
      </p:sp>
      <p:graphicFrame>
        <p:nvGraphicFramePr>
          <p:cNvPr id="4" name="Chỗ dành sẵn cho Nội dung 3"/>
          <p:cNvGraphicFramePr>
            <a:graphicFrameLocks noGrp="1"/>
          </p:cNvGraphicFramePr>
          <p:nvPr>
            <p:ph idx="1"/>
          </p:nvPr>
        </p:nvGraphicFramePr>
        <p:xfrm>
          <a:off x="1880451" y="1313896"/>
          <a:ext cx="8431098" cy="4862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Hộp Văn bản 4"/>
          <p:cNvSpPr txBox="1"/>
          <p:nvPr/>
        </p:nvSpPr>
        <p:spPr>
          <a:xfrm>
            <a:off x="2116318" y="1616335"/>
            <a:ext cx="479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  <a:endParaRPr lang="en-US" sz="3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Hộp Văn bản 5"/>
          <p:cNvSpPr txBox="1"/>
          <p:nvPr/>
        </p:nvSpPr>
        <p:spPr>
          <a:xfrm>
            <a:off x="2595514" y="2545532"/>
            <a:ext cx="37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en-US" sz="3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Hộp Văn bản 6"/>
          <p:cNvSpPr txBox="1"/>
          <p:nvPr/>
        </p:nvSpPr>
        <p:spPr>
          <a:xfrm>
            <a:off x="2696066" y="3429000"/>
            <a:ext cx="460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endParaRPr lang="en-US" sz="3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Hộp Văn bản 7"/>
          <p:cNvSpPr txBox="1"/>
          <p:nvPr/>
        </p:nvSpPr>
        <p:spPr>
          <a:xfrm>
            <a:off x="2595514" y="4317000"/>
            <a:ext cx="37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  <a:endParaRPr lang="en-US" sz="3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Hộp Văn bản 8"/>
          <p:cNvSpPr txBox="1"/>
          <p:nvPr/>
        </p:nvSpPr>
        <p:spPr>
          <a:xfrm>
            <a:off x="2116318" y="5241665"/>
            <a:ext cx="479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  <a:endParaRPr lang="en-US" sz="3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Build Process</a:t>
            </a:r>
            <a:endParaRPr lang="en-US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Từ</a:t>
            </a:r>
            <a:r>
              <a:rPr lang="en-US" sz="2800" dirty="0"/>
              <a:t> Source Code </a:t>
            </a:r>
            <a:r>
              <a:rPr lang="en-US" sz="2800" dirty="0" err="1"/>
              <a:t>đến</a:t>
            </a:r>
            <a:r>
              <a:rPr lang="en-US" sz="2800" dirty="0"/>
              <a:t> file </a:t>
            </a:r>
            <a:r>
              <a:rPr lang="en-US" sz="2800" dirty="0" err="1"/>
              <a:t>nhị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nạp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Target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Process – Basic</a:t>
            </a:r>
            <a:endParaRPr lang="en-US" dirty="0"/>
          </a:p>
        </p:txBody>
      </p:sp>
      <p:sp>
        <p:nvSpPr>
          <p:cNvPr id="24" name="Hình chữ nhật 23"/>
          <p:cNvSpPr/>
          <p:nvPr/>
        </p:nvSpPr>
        <p:spPr>
          <a:xfrm>
            <a:off x="4260664" y="1366446"/>
            <a:ext cx="3278786" cy="7499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preprocessor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Hình chữ nhật 25"/>
          <p:cNvSpPr/>
          <p:nvPr/>
        </p:nvSpPr>
        <p:spPr>
          <a:xfrm>
            <a:off x="4260664" y="2634168"/>
            <a:ext cx="3278786" cy="618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Compilation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Hình chữ nhật 26"/>
          <p:cNvSpPr/>
          <p:nvPr/>
        </p:nvSpPr>
        <p:spPr>
          <a:xfrm>
            <a:off x="4260663" y="3765215"/>
            <a:ext cx="3278786" cy="6442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Assemble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Hình chữ nhật 27"/>
          <p:cNvSpPr/>
          <p:nvPr/>
        </p:nvSpPr>
        <p:spPr>
          <a:xfrm>
            <a:off x="4260663" y="4922144"/>
            <a:ext cx="3278785" cy="6748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Linking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Đường kết nối Mũi tên Thẳng 29"/>
          <p:cNvCxnSpPr>
            <a:endCxn id="24" idx="0"/>
          </p:cNvCxnSpPr>
          <p:nvPr/>
        </p:nvCxnSpPr>
        <p:spPr>
          <a:xfrm>
            <a:off x="5900057" y="802432"/>
            <a:ext cx="0" cy="5640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Hộp Văn bản 32"/>
          <p:cNvSpPr txBox="1"/>
          <p:nvPr/>
        </p:nvSpPr>
        <p:spPr>
          <a:xfrm>
            <a:off x="6277126" y="937925"/>
            <a:ext cx="36249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files (.c / .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.h)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39" name="Hộp Văn bản 38"/>
          <p:cNvSpPr txBox="1"/>
          <p:nvPr/>
        </p:nvSpPr>
        <p:spPr>
          <a:xfrm>
            <a:off x="6277126" y="2159817"/>
            <a:ext cx="52577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Header/ Expand Marco (.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.ii)</a:t>
            </a:r>
            <a:endParaRPr lang="en-US" sz="2200" dirty="0">
              <a:solidFill>
                <a:srgbClr val="002060"/>
              </a:solidFill>
            </a:endParaRPr>
          </a:p>
        </p:txBody>
      </p:sp>
      <p:cxnSp>
        <p:nvCxnSpPr>
          <p:cNvPr id="44" name="Đường kết nối Mũi tên Thẳng 43"/>
          <p:cNvCxnSpPr>
            <a:stCxn id="24" idx="2"/>
            <a:endCxn id="26" idx="0"/>
          </p:cNvCxnSpPr>
          <p:nvPr/>
        </p:nvCxnSpPr>
        <p:spPr>
          <a:xfrm>
            <a:off x="5900057" y="2116355"/>
            <a:ext cx="0" cy="5178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Hộp Văn bản 44"/>
          <p:cNvSpPr txBox="1"/>
          <p:nvPr/>
        </p:nvSpPr>
        <p:spPr>
          <a:xfrm>
            <a:off x="6037710" y="3359202"/>
            <a:ext cx="33496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 Code (.s)</a:t>
            </a:r>
            <a:endParaRPr lang="en-US" sz="2200" dirty="0">
              <a:solidFill>
                <a:srgbClr val="002060"/>
              </a:solidFill>
            </a:endParaRPr>
          </a:p>
        </p:txBody>
      </p:sp>
      <p:cxnSp>
        <p:nvCxnSpPr>
          <p:cNvPr id="52" name="Đường kết nối Mũi tên Thẳng 51"/>
          <p:cNvCxnSpPr>
            <a:stCxn id="26" idx="2"/>
            <a:endCxn id="27" idx="0"/>
          </p:cNvCxnSpPr>
          <p:nvPr/>
        </p:nvCxnSpPr>
        <p:spPr>
          <a:xfrm flipH="1">
            <a:off x="5900056" y="3252526"/>
            <a:ext cx="1" cy="512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Đường kết nối Mũi tên Thẳng 54"/>
          <p:cNvCxnSpPr>
            <a:stCxn id="27" idx="2"/>
            <a:endCxn id="28" idx="0"/>
          </p:cNvCxnSpPr>
          <p:nvPr/>
        </p:nvCxnSpPr>
        <p:spPr>
          <a:xfrm>
            <a:off x="5900056" y="4409455"/>
            <a:ext cx="0" cy="512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Đường kết nối Mũi tên Thẳng 64"/>
          <p:cNvCxnSpPr>
            <a:stCxn id="28" idx="2"/>
          </p:cNvCxnSpPr>
          <p:nvPr/>
        </p:nvCxnSpPr>
        <p:spPr>
          <a:xfrm>
            <a:off x="5900056" y="5596951"/>
            <a:ext cx="0" cy="5159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Hộp Văn bản 68"/>
          <p:cNvSpPr txBox="1"/>
          <p:nvPr/>
        </p:nvSpPr>
        <p:spPr>
          <a:xfrm>
            <a:off x="6037711" y="4450356"/>
            <a:ext cx="27218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File (.o)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70" name="Hộp Văn bản 69"/>
          <p:cNvSpPr txBox="1"/>
          <p:nvPr/>
        </p:nvSpPr>
        <p:spPr>
          <a:xfrm>
            <a:off x="6037710" y="5678753"/>
            <a:ext cx="35230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Executable file (.exe)</a:t>
            </a:r>
            <a:endParaRPr lang="en-US" sz="2200" dirty="0">
              <a:solidFill>
                <a:srgbClr val="002060"/>
              </a:solidFill>
            </a:endParaRPr>
          </a:p>
        </p:txBody>
      </p:sp>
      <p:cxnSp>
        <p:nvCxnSpPr>
          <p:cNvPr id="71" name="Đường kết nối Mũi tên Thẳng 70"/>
          <p:cNvCxnSpPr>
            <a:endCxn id="27" idx="1"/>
          </p:cNvCxnSpPr>
          <p:nvPr/>
        </p:nvCxnSpPr>
        <p:spPr>
          <a:xfrm>
            <a:off x="1691775" y="4087335"/>
            <a:ext cx="25688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Hộp Văn bản 74"/>
          <p:cNvSpPr txBox="1"/>
          <p:nvPr/>
        </p:nvSpPr>
        <p:spPr>
          <a:xfrm>
            <a:off x="1691775" y="3549771"/>
            <a:ext cx="2568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files (.s) </a:t>
            </a: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7" name="Đường kết nối Mũi tên Thẳng 76"/>
          <p:cNvCxnSpPr>
            <a:endCxn id="28" idx="1"/>
          </p:cNvCxnSpPr>
          <p:nvPr/>
        </p:nvCxnSpPr>
        <p:spPr>
          <a:xfrm>
            <a:off x="1123811" y="5259548"/>
            <a:ext cx="31368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Hộp Văn bản 78"/>
          <p:cNvSpPr txBox="1"/>
          <p:nvPr/>
        </p:nvSpPr>
        <p:spPr>
          <a:xfrm>
            <a:off x="1123811" y="4721351"/>
            <a:ext cx="31368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Library (.lib / .a) </a:t>
            </a: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Process – Embedded</a:t>
            </a:r>
            <a:endParaRPr lang="en-US" dirty="0"/>
          </a:p>
        </p:txBody>
      </p:sp>
      <p:sp>
        <p:nvSpPr>
          <p:cNvPr id="5" name="Hình chữ nhật 4"/>
          <p:cNvSpPr/>
          <p:nvPr/>
        </p:nvSpPr>
        <p:spPr>
          <a:xfrm>
            <a:off x="2638450" y="2864873"/>
            <a:ext cx="2084774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preprocessor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ình chữ nhật: Cắt Một Góc 5"/>
          <p:cNvSpPr/>
          <p:nvPr/>
        </p:nvSpPr>
        <p:spPr>
          <a:xfrm>
            <a:off x="838503" y="2761115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.c .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.h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/>
          <p:cNvSpPr txBox="1"/>
          <p:nvPr/>
        </p:nvSpPr>
        <p:spPr>
          <a:xfrm>
            <a:off x="6011966" y="5788113"/>
            <a:ext cx="11378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Object files</a:t>
            </a:r>
            <a:endParaRPr lang="en-US" sz="2200" dirty="0"/>
          </a:p>
        </p:txBody>
      </p:sp>
      <p:sp>
        <p:nvSpPr>
          <p:cNvPr id="9" name="Hình chữ nhật 8"/>
          <p:cNvSpPr/>
          <p:nvPr/>
        </p:nvSpPr>
        <p:spPr>
          <a:xfrm>
            <a:off x="5864005" y="2864873"/>
            <a:ext cx="1433744" cy="749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Hình chữ nhật 9"/>
          <p:cNvSpPr/>
          <p:nvPr/>
        </p:nvSpPr>
        <p:spPr>
          <a:xfrm>
            <a:off x="7753470" y="2867812"/>
            <a:ext cx="3005091" cy="7440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generator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Hình chữ nhật 11"/>
          <p:cNvSpPr/>
          <p:nvPr/>
        </p:nvSpPr>
        <p:spPr>
          <a:xfrm>
            <a:off x="2638451" y="4929835"/>
            <a:ext cx="2084773" cy="749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Assembler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Hình chữ nhật: Cắt Một Góc 12"/>
          <p:cNvSpPr/>
          <p:nvPr/>
        </p:nvSpPr>
        <p:spPr>
          <a:xfrm>
            <a:off x="4559726" y="1428173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Hình chữ nhật: Cắt Một Góc 13"/>
          <p:cNvSpPr/>
          <p:nvPr/>
        </p:nvSpPr>
        <p:spPr>
          <a:xfrm>
            <a:off x="10527000" y="1428173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Hình chữ nhật: Cắt Một Góc 14"/>
          <p:cNvSpPr/>
          <p:nvPr/>
        </p:nvSpPr>
        <p:spPr>
          <a:xfrm>
            <a:off x="6202836" y="4821462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Đường kết nối Mũi tên Thẳng 16"/>
          <p:cNvCxnSpPr>
            <a:stCxn id="6" idx="0"/>
            <a:endCxn id="5" idx="1"/>
          </p:cNvCxnSpPr>
          <p:nvPr/>
        </p:nvCxnSpPr>
        <p:spPr>
          <a:xfrm flipV="1">
            <a:off x="1624917" y="3239828"/>
            <a:ext cx="1013533" cy="4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Đường kết nối Mũi tên Thẳng 17"/>
          <p:cNvCxnSpPr>
            <a:stCxn id="5" idx="3"/>
            <a:endCxn id="9" idx="1"/>
          </p:cNvCxnSpPr>
          <p:nvPr/>
        </p:nvCxnSpPr>
        <p:spPr>
          <a:xfrm flipV="1">
            <a:off x="4723224" y="3239827"/>
            <a:ext cx="114078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Đường kết nối Mũi tên Thẳng 20"/>
          <p:cNvCxnSpPr>
            <a:stCxn id="9" idx="3"/>
            <a:endCxn id="10" idx="1"/>
          </p:cNvCxnSpPr>
          <p:nvPr/>
        </p:nvCxnSpPr>
        <p:spPr>
          <a:xfrm flipV="1">
            <a:off x="7297749" y="3239826"/>
            <a:ext cx="45572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/>
          <p:cNvCxnSpPr>
            <a:stCxn id="12" idx="3"/>
            <a:endCxn id="15" idx="2"/>
          </p:cNvCxnSpPr>
          <p:nvPr/>
        </p:nvCxnSpPr>
        <p:spPr>
          <a:xfrm flipV="1">
            <a:off x="4723224" y="5304788"/>
            <a:ext cx="147961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Đường kết nối: Mũi tên Gấp khúc 28"/>
          <p:cNvCxnSpPr>
            <a:stCxn id="10" idx="3"/>
            <a:endCxn id="12" idx="1"/>
          </p:cNvCxnSpPr>
          <p:nvPr/>
        </p:nvCxnSpPr>
        <p:spPr>
          <a:xfrm flipH="1">
            <a:off x="2638451" y="3239826"/>
            <a:ext cx="8120110" cy="2064963"/>
          </a:xfrm>
          <a:prstGeom prst="bentConnector5">
            <a:avLst>
              <a:gd name="adj1" fmla="val -2815"/>
              <a:gd name="adj2" fmla="val 49929"/>
              <a:gd name="adj3" fmla="val 10281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Đường kết nối Mũi tên Thẳng 30"/>
          <p:cNvCxnSpPr>
            <a:endCxn id="13" idx="1"/>
          </p:cNvCxnSpPr>
          <p:nvPr/>
        </p:nvCxnSpPr>
        <p:spPr>
          <a:xfrm flipH="1" flipV="1">
            <a:off x="4952933" y="2394824"/>
            <a:ext cx="340681" cy="845002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Đường kết nối Mũi tên Thẳng 31"/>
          <p:cNvCxnSpPr>
            <a:endCxn id="14" idx="1"/>
          </p:cNvCxnSpPr>
          <p:nvPr/>
        </p:nvCxnSpPr>
        <p:spPr>
          <a:xfrm flipH="1" flipV="1">
            <a:off x="10920207" y="2394824"/>
            <a:ext cx="70652" cy="845001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Hộp Văn bản 34"/>
          <p:cNvSpPr txBox="1"/>
          <p:nvPr/>
        </p:nvSpPr>
        <p:spPr>
          <a:xfrm>
            <a:off x="6989250" y="4750792"/>
            <a:ext cx="45231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Processor architecture specific machine codes with no absolute address (relocatable file)</a:t>
            </a:r>
            <a:endParaRPr 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Hộp Văn bản 35"/>
          <p:cNvSpPr txBox="1"/>
          <p:nvPr/>
        </p:nvSpPr>
        <p:spPr>
          <a:xfrm>
            <a:off x="5346140" y="1530709"/>
            <a:ext cx="15166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Extended files</a:t>
            </a:r>
            <a:endParaRPr lang="en-US" sz="2200" dirty="0"/>
          </a:p>
        </p:txBody>
      </p:sp>
      <p:sp>
        <p:nvSpPr>
          <p:cNvPr id="37" name="Hộp Văn bản 36"/>
          <p:cNvSpPr txBox="1"/>
          <p:nvPr/>
        </p:nvSpPr>
        <p:spPr>
          <a:xfrm>
            <a:off x="9008914" y="1566631"/>
            <a:ext cx="1518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Assembly files</a:t>
            </a:r>
            <a:endParaRPr lang="en-US" sz="2200" dirty="0"/>
          </a:p>
        </p:txBody>
      </p:sp>
      <p:sp>
        <p:nvSpPr>
          <p:cNvPr id="38" name="Hộp Văn bản 37"/>
          <p:cNvSpPr txBox="1"/>
          <p:nvPr/>
        </p:nvSpPr>
        <p:spPr>
          <a:xfrm>
            <a:off x="662799" y="1987062"/>
            <a:ext cx="11378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Source files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Process – Embedded </a:t>
            </a:r>
            <a:endParaRPr lang="en-US" dirty="0"/>
          </a:p>
        </p:txBody>
      </p:sp>
      <p:sp>
        <p:nvSpPr>
          <p:cNvPr id="4" name="Hình chữ nhật 3"/>
          <p:cNvSpPr/>
          <p:nvPr/>
        </p:nvSpPr>
        <p:spPr>
          <a:xfrm>
            <a:off x="2878400" y="2401958"/>
            <a:ext cx="1564133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chữ nhật: Cắt Một Góc 4"/>
          <p:cNvSpPr/>
          <p:nvPr/>
        </p:nvSpPr>
        <p:spPr>
          <a:xfrm>
            <a:off x="1410440" y="2298200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.o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Đường kết nối Mũi tên Thẳng 5"/>
          <p:cNvCxnSpPr>
            <a:stCxn id="5" idx="0"/>
            <a:endCxn id="4" idx="1"/>
          </p:cNvCxnSpPr>
          <p:nvPr/>
        </p:nvCxnSpPr>
        <p:spPr>
          <a:xfrm flipV="1">
            <a:off x="2196854" y="2776913"/>
            <a:ext cx="681546" cy="4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Hộp Văn bản 6"/>
          <p:cNvSpPr txBox="1"/>
          <p:nvPr/>
        </p:nvSpPr>
        <p:spPr>
          <a:xfrm>
            <a:off x="838200" y="1524145"/>
            <a:ext cx="19308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Re-locatable object files</a:t>
            </a:r>
            <a:endParaRPr lang="en-US" sz="2200" dirty="0"/>
          </a:p>
        </p:txBody>
      </p:sp>
      <p:sp>
        <p:nvSpPr>
          <p:cNvPr id="9" name="Hình chữ nhật: Cắt Một Góc 8"/>
          <p:cNvSpPr/>
          <p:nvPr/>
        </p:nvSpPr>
        <p:spPr>
          <a:xfrm>
            <a:off x="3267259" y="4103876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Hộp Văn bản 9"/>
          <p:cNvSpPr txBox="1"/>
          <p:nvPr/>
        </p:nvSpPr>
        <p:spPr>
          <a:xfrm>
            <a:off x="2942669" y="5075016"/>
            <a:ext cx="14355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Static Libraries</a:t>
            </a:r>
            <a:endParaRPr lang="en-US" sz="2200" dirty="0"/>
          </a:p>
        </p:txBody>
      </p:sp>
      <p:sp>
        <p:nvSpPr>
          <p:cNvPr id="11" name="Hình chữ nhật: Cắt Một Góc 10"/>
          <p:cNvSpPr/>
          <p:nvPr/>
        </p:nvSpPr>
        <p:spPr>
          <a:xfrm>
            <a:off x="7361165" y="2298200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.elf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Hộp Văn bản 11"/>
          <p:cNvSpPr txBox="1"/>
          <p:nvPr/>
        </p:nvSpPr>
        <p:spPr>
          <a:xfrm>
            <a:off x="6820551" y="1528761"/>
            <a:ext cx="186764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Executable  &amp; debug file</a:t>
            </a:r>
            <a:endParaRPr lang="en-US" sz="2200" dirty="0"/>
          </a:p>
        </p:txBody>
      </p:sp>
      <p:sp>
        <p:nvSpPr>
          <p:cNvPr id="13" name="Hình chữ nhật 12"/>
          <p:cNvSpPr/>
          <p:nvPr/>
        </p:nvSpPr>
        <p:spPr>
          <a:xfrm>
            <a:off x="9002699" y="2406572"/>
            <a:ext cx="2084774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Objcopy</a:t>
            </a: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Đường kết nối Mũi tên Thẳng 13"/>
          <p:cNvCxnSpPr>
            <a:stCxn id="9" idx="3"/>
            <a:endCxn id="4" idx="2"/>
          </p:cNvCxnSpPr>
          <p:nvPr/>
        </p:nvCxnSpPr>
        <p:spPr>
          <a:xfrm flipV="1">
            <a:off x="3660466" y="3151867"/>
            <a:ext cx="1" cy="952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Đường kết nối Mũi tên Thẳng 16"/>
          <p:cNvCxnSpPr>
            <a:stCxn id="4" idx="3"/>
            <a:endCxn id="27" idx="1"/>
          </p:cNvCxnSpPr>
          <p:nvPr/>
        </p:nvCxnSpPr>
        <p:spPr>
          <a:xfrm>
            <a:off x="4442533" y="2776913"/>
            <a:ext cx="6729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/>
          <p:cNvCxnSpPr>
            <a:stCxn id="11" idx="0"/>
            <a:endCxn id="13" idx="1"/>
          </p:cNvCxnSpPr>
          <p:nvPr/>
        </p:nvCxnSpPr>
        <p:spPr>
          <a:xfrm>
            <a:off x="8147579" y="2781526"/>
            <a:ext cx="85512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Hình chữ nhật: Cắt Một Góc 23"/>
          <p:cNvSpPr/>
          <p:nvPr/>
        </p:nvSpPr>
        <p:spPr>
          <a:xfrm>
            <a:off x="8609492" y="4289500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ihex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Hình chữ nhật: Cắt Một Góc 24"/>
          <p:cNvSpPr/>
          <p:nvPr/>
        </p:nvSpPr>
        <p:spPr>
          <a:xfrm>
            <a:off x="10301059" y="4301120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.bin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Đường kết nối Mũi tên Thẳng 25"/>
          <p:cNvCxnSpPr>
            <a:stCxn id="13" idx="2"/>
            <a:endCxn id="24" idx="3"/>
          </p:cNvCxnSpPr>
          <p:nvPr/>
        </p:nvCxnSpPr>
        <p:spPr>
          <a:xfrm flipH="1">
            <a:off x="9002699" y="3156481"/>
            <a:ext cx="1042387" cy="11330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Đường kết nối Mũi tên Thẳng 28"/>
          <p:cNvCxnSpPr>
            <a:stCxn id="13" idx="2"/>
            <a:endCxn id="25" idx="3"/>
          </p:cNvCxnSpPr>
          <p:nvPr/>
        </p:nvCxnSpPr>
        <p:spPr>
          <a:xfrm>
            <a:off x="10045086" y="3156481"/>
            <a:ext cx="649180" cy="1144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Hộp Văn bản 31"/>
          <p:cNvSpPr txBox="1"/>
          <p:nvPr/>
        </p:nvSpPr>
        <p:spPr>
          <a:xfrm>
            <a:off x="8284902" y="5256151"/>
            <a:ext cx="14355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Intel hex format </a:t>
            </a:r>
            <a:endParaRPr lang="en-US" sz="2200" dirty="0"/>
          </a:p>
        </p:txBody>
      </p:sp>
      <p:sp>
        <p:nvSpPr>
          <p:cNvPr id="33" name="Hộp Văn bản 32"/>
          <p:cNvSpPr txBox="1"/>
          <p:nvPr/>
        </p:nvSpPr>
        <p:spPr>
          <a:xfrm>
            <a:off x="10112872" y="5266468"/>
            <a:ext cx="11627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Bin format</a:t>
            </a:r>
            <a:endParaRPr lang="en-US" sz="2200" dirty="0"/>
          </a:p>
        </p:txBody>
      </p:sp>
      <p:sp>
        <p:nvSpPr>
          <p:cNvPr id="27" name="Hình chữ nhật 26"/>
          <p:cNvSpPr/>
          <p:nvPr/>
        </p:nvSpPr>
        <p:spPr>
          <a:xfrm>
            <a:off x="5115486" y="2401958"/>
            <a:ext cx="1564133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Locator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Đường kết nối Mũi tên Thẳng 33"/>
          <p:cNvCxnSpPr>
            <a:stCxn id="27" idx="3"/>
            <a:endCxn id="11" idx="2"/>
          </p:cNvCxnSpPr>
          <p:nvPr/>
        </p:nvCxnSpPr>
        <p:spPr>
          <a:xfrm>
            <a:off x="6679619" y="2776913"/>
            <a:ext cx="681546" cy="4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Hộp Văn bản 36"/>
          <p:cNvSpPr txBox="1"/>
          <p:nvPr/>
        </p:nvSpPr>
        <p:spPr>
          <a:xfrm>
            <a:off x="5197132" y="5070526"/>
            <a:ext cx="14355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Linker script</a:t>
            </a:r>
            <a:endParaRPr lang="en-US" sz="2200" dirty="0"/>
          </a:p>
        </p:txBody>
      </p:sp>
      <p:sp>
        <p:nvSpPr>
          <p:cNvPr id="38" name="Hình chữ nhật: Cắt Một Góc 37"/>
          <p:cNvSpPr/>
          <p:nvPr/>
        </p:nvSpPr>
        <p:spPr>
          <a:xfrm>
            <a:off x="5521722" y="4103876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Đường kết nối Mũi tên Thẳng 39"/>
          <p:cNvCxnSpPr>
            <a:stCxn id="38" idx="3"/>
            <a:endCxn id="27" idx="2"/>
          </p:cNvCxnSpPr>
          <p:nvPr/>
        </p:nvCxnSpPr>
        <p:spPr>
          <a:xfrm flipH="1" flipV="1">
            <a:off x="5897553" y="3151867"/>
            <a:ext cx="17376" cy="952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Hình chữ nhật 42"/>
          <p:cNvSpPr/>
          <p:nvPr/>
        </p:nvSpPr>
        <p:spPr>
          <a:xfrm>
            <a:off x="2672179" y="1933038"/>
            <a:ext cx="4148372" cy="170381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Đọc</a:t>
            </a:r>
            <a:r>
              <a:rPr lang="en-US" dirty="0"/>
              <a:t> thêm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Preprocessor</a:t>
            </a:r>
            <a:br>
              <a:rPr lang="en-US" dirty="0"/>
            </a:br>
            <a:r>
              <a:rPr lang="en-US" dirty="0">
                <a:hlinkClick r:id="rId1"/>
              </a:rPr>
              <a:t>https://laptrinhcnhung.blogspot.com/2021/08/Preprocessor.html</a:t>
            </a:r>
            <a:endParaRPr lang="en-US" dirty="0"/>
          </a:p>
          <a:p>
            <a:r>
              <a:rPr lang="en-US" dirty="0"/>
              <a:t>Build Process</a:t>
            </a:r>
            <a:br>
              <a:rPr lang="en-US" dirty="0"/>
            </a:br>
            <a:r>
              <a:rPr lang="en-US" dirty="0">
                <a:hlinkClick r:id="rId2"/>
              </a:rPr>
              <a:t>https://laptrinhcnhung.blogspot.com/2021/08/Build.html</a:t>
            </a:r>
            <a:endParaRPr lang="en-US" dirty="0"/>
          </a:p>
          <a:p>
            <a:r>
              <a:rPr lang="en-US" dirty="0"/>
              <a:t>Cross Compiler</a:t>
            </a:r>
            <a:br>
              <a:rPr lang="en-US" dirty="0"/>
            </a:br>
            <a:r>
              <a:rPr lang="en-US" dirty="0">
                <a:hlinkClick r:id="rId3"/>
              </a:rPr>
              <a:t>https://laptrinhcnhung.blogspot.com/2021/08/CrossCompiler.html</a:t>
            </a:r>
            <a:endParaRPr lang="en-US" dirty="0"/>
          </a:p>
          <a:p>
            <a:r>
              <a:rPr lang="en-US" dirty="0" err="1"/>
              <a:t>Quá</a:t>
            </a:r>
            <a:r>
              <a:rPr lang="en-US" dirty="0"/>
              <a:t> trình Linking</a:t>
            </a:r>
            <a:br>
              <a:rPr lang="en-US" dirty="0"/>
            </a:br>
            <a:r>
              <a:rPr lang="en-US" dirty="0">
                <a:hlinkClick r:id="rId4"/>
              </a:rPr>
              <a:t>https://laptrinhcnhung.blogspot.com/2021/08/Linking.html</a:t>
            </a:r>
            <a:endParaRPr lang="en-US" dirty="0"/>
          </a:p>
          <a:p>
            <a:r>
              <a:rPr lang="en-US" dirty="0"/>
              <a:t>Static Library vs Shared Library</a:t>
            </a:r>
            <a:br>
              <a:rPr lang="en-US" dirty="0"/>
            </a:br>
            <a:r>
              <a:rPr lang="en-US" dirty="0">
                <a:hlinkClick r:id="rId5"/>
              </a:rPr>
              <a:t>https://laptrinhcnhung.blogspot.com/2021/08/Library.html</a:t>
            </a:r>
            <a:endParaRPr lang="en-US" dirty="0"/>
          </a:p>
          <a:p>
            <a:r>
              <a:rPr lang="en-US" dirty="0"/>
              <a:t>Linker Script File</a:t>
            </a:r>
            <a:br>
              <a:rPr lang="en-US" dirty="0"/>
            </a:br>
            <a:r>
              <a:rPr lang="en-US" dirty="0">
                <a:hlinkClick r:id="rId6"/>
              </a:rPr>
              <a:t>https://laptrinhcnhung.blogspot.com/2021/08/LinkerScriptFile.html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GCC – Command Line</a:t>
            </a:r>
            <a:endParaRPr lang="en-US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Giới</a:t>
            </a:r>
            <a:r>
              <a:rPr lang="en-US" sz="2800" dirty="0"/>
              <a:t> </a:t>
            </a:r>
            <a:r>
              <a:rPr lang="en-US" sz="2800" dirty="0" err="1"/>
              <a:t>thiệu</a:t>
            </a:r>
            <a:r>
              <a:rPr lang="en-US" sz="2800" dirty="0"/>
              <a:t> trình </a:t>
            </a:r>
            <a:r>
              <a:rPr lang="en-US" sz="2800" dirty="0" err="1"/>
              <a:t>biên</a:t>
            </a:r>
            <a:r>
              <a:rPr lang="en-US" sz="2800" dirty="0"/>
              <a:t> dịch GCC</a:t>
            </a:r>
            <a:endParaRPr lang="en-US" sz="2800" dirty="0"/>
          </a:p>
          <a:p>
            <a:r>
              <a:rPr lang="en-US" sz="2800" dirty="0"/>
              <a:t>Command Line </a:t>
            </a: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bản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GCC </a:t>
            </a:r>
            <a:r>
              <a:rPr lang="en-US" sz="2800" dirty="0" err="1"/>
              <a:t>với</a:t>
            </a:r>
            <a:r>
              <a:rPr lang="en-US" sz="2800" dirty="0"/>
              <a:t> Build Process</a:t>
            </a:r>
            <a:endParaRPr lang="en-US" sz="2800" dirty="0"/>
          </a:p>
          <a:p>
            <a:r>
              <a:rPr lang="en-US" sz="2800" dirty="0"/>
              <a:t>Makefile - </a:t>
            </a:r>
            <a:r>
              <a:rPr lang="en-US" sz="2800" dirty="0" err="1"/>
              <a:t>Lí</a:t>
            </a:r>
            <a:r>
              <a:rPr lang="en-US" sz="2800" dirty="0"/>
              <a:t> do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Makefile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Trình </a:t>
            </a:r>
            <a:r>
              <a:rPr lang="en-US" dirty="0" err="1"/>
              <a:t>biên</a:t>
            </a:r>
            <a:r>
              <a:rPr lang="en-US" dirty="0"/>
              <a:t> dịch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“</a:t>
            </a:r>
            <a:r>
              <a:rPr lang="vi-VN" i="1" dirty="0" err="1"/>
              <a:t>Compiler</a:t>
            </a:r>
            <a:r>
              <a:rPr lang="vi-VN" i="1" dirty="0"/>
              <a:t> (</a:t>
            </a:r>
            <a:r>
              <a:rPr lang="vi-VN" i="1" dirty="0" err="1"/>
              <a:t>trình</a:t>
            </a:r>
            <a:r>
              <a:rPr lang="vi-VN" i="1" dirty="0"/>
              <a:t> biên </a:t>
            </a:r>
            <a:r>
              <a:rPr lang="vi-VN" i="1" dirty="0" err="1"/>
              <a:t>dịch</a:t>
            </a:r>
            <a:r>
              <a:rPr lang="vi-VN" i="1" dirty="0"/>
              <a:t>) </a:t>
            </a:r>
            <a:r>
              <a:rPr lang="vi-VN" i="1" dirty="0" err="1"/>
              <a:t>là</a:t>
            </a:r>
            <a:r>
              <a:rPr lang="vi-VN" i="1" dirty="0"/>
              <a:t> </a:t>
            </a:r>
            <a:r>
              <a:rPr lang="vi-VN" i="1" dirty="0" err="1"/>
              <a:t>một</a:t>
            </a:r>
            <a:r>
              <a:rPr lang="vi-VN" i="1" dirty="0"/>
              <a:t> chương </a:t>
            </a:r>
            <a:r>
              <a:rPr lang="vi-VN" i="1" dirty="0" err="1"/>
              <a:t>trình</a:t>
            </a:r>
            <a:r>
              <a:rPr lang="vi-VN" i="1" dirty="0"/>
              <a:t> </a:t>
            </a:r>
            <a:r>
              <a:rPr lang="vi-VN" i="1" dirty="0" err="1"/>
              <a:t>máy</a:t>
            </a:r>
            <a:r>
              <a:rPr lang="vi-VN" i="1" dirty="0"/>
              <a:t> </a:t>
            </a:r>
            <a:r>
              <a:rPr lang="vi-VN" i="1" dirty="0" err="1"/>
              <a:t>tính</a:t>
            </a:r>
            <a:r>
              <a:rPr lang="vi-VN" i="1" dirty="0"/>
              <a:t> </a:t>
            </a:r>
            <a:r>
              <a:rPr lang="vi-VN" i="1" dirty="0" err="1"/>
              <a:t>làm</a:t>
            </a:r>
            <a:r>
              <a:rPr lang="vi-VN" i="1" dirty="0"/>
              <a:t> công </a:t>
            </a:r>
            <a:r>
              <a:rPr lang="vi-VN" i="1" dirty="0" err="1"/>
              <a:t>việc</a:t>
            </a:r>
            <a:r>
              <a:rPr lang="vi-VN" i="1" dirty="0"/>
              <a:t> </a:t>
            </a:r>
            <a:r>
              <a:rPr lang="vi-VN" i="1" dirty="0" err="1"/>
              <a:t>dịch</a:t>
            </a:r>
            <a:r>
              <a:rPr lang="vi-VN" i="1" dirty="0"/>
              <a:t> </a:t>
            </a:r>
            <a:r>
              <a:rPr lang="vi-VN" i="1" dirty="0" err="1"/>
              <a:t>các</a:t>
            </a:r>
            <a:r>
              <a:rPr lang="vi-VN" i="1" dirty="0"/>
              <a:t> </a:t>
            </a:r>
            <a:r>
              <a:rPr lang="vi-VN" i="1" dirty="0" err="1"/>
              <a:t>chuỗi</a:t>
            </a:r>
            <a:r>
              <a:rPr lang="vi-VN" i="1" dirty="0"/>
              <a:t> câu </a:t>
            </a:r>
            <a:r>
              <a:rPr lang="vi-VN" i="1" dirty="0" err="1"/>
              <a:t>lệnh</a:t>
            </a:r>
            <a:r>
              <a:rPr lang="vi-VN" i="1" dirty="0"/>
              <a:t> </a:t>
            </a:r>
            <a:r>
              <a:rPr lang="vi-VN" i="1" dirty="0" err="1"/>
              <a:t>viết</a:t>
            </a:r>
            <a:r>
              <a:rPr lang="vi-VN" i="1" dirty="0"/>
              <a:t> </a:t>
            </a:r>
            <a:r>
              <a:rPr lang="vi-VN" i="1" dirty="0" err="1"/>
              <a:t>bằng</a:t>
            </a:r>
            <a:r>
              <a:rPr lang="vi-VN" i="1" dirty="0"/>
              <a:t> ngôn </a:t>
            </a:r>
            <a:r>
              <a:rPr lang="vi-VN" i="1" dirty="0" err="1"/>
              <a:t>ngữ</a:t>
            </a:r>
            <a:r>
              <a:rPr lang="vi-VN" i="1" dirty="0"/>
              <a:t> </a:t>
            </a:r>
            <a:r>
              <a:rPr lang="vi-VN" i="1" dirty="0" err="1"/>
              <a:t>lập</a:t>
            </a:r>
            <a:r>
              <a:rPr lang="vi-VN" i="1" dirty="0"/>
              <a:t> </a:t>
            </a:r>
            <a:r>
              <a:rPr lang="vi-VN" i="1" dirty="0" err="1"/>
              <a:t>trình</a:t>
            </a:r>
            <a:r>
              <a:rPr lang="vi-VN" i="1" dirty="0"/>
              <a:t> </a:t>
            </a:r>
            <a:r>
              <a:rPr lang="vi-VN" i="1" dirty="0" err="1"/>
              <a:t>thành</a:t>
            </a:r>
            <a:r>
              <a:rPr lang="vi-VN" i="1" dirty="0"/>
              <a:t> chương </a:t>
            </a:r>
            <a:r>
              <a:rPr lang="vi-VN" i="1" dirty="0" err="1"/>
              <a:t>trình</a:t>
            </a:r>
            <a:r>
              <a:rPr lang="vi-VN" i="1" dirty="0"/>
              <a:t> tương đương nhưng </a:t>
            </a:r>
            <a:r>
              <a:rPr lang="vi-VN" i="1" dirty="0" err="1"/>
              <a:t>viết</a:t>
            </a:r>
            <a:r>
              <a:rPr lang="vi-VN" i="1" dirty="0"/>
              <a:t> </a:t>
            </a:r>
            <a:r>
              <a:rPr lang="vi-VN" i="1" dirty="0" err="1"/>
              <a:t>dưới</a:t>
            </a:r>
            <a:r>
              <a:rPr lang="vi-VN" i="1" dirty="0"/>
              <a:t> </a:t>
            </a:r>
            <a:r>
              <a:rPr lang="vi-VN" i="1" dirty="0" err="1"/>
              <a:t>dạng</a:t>
            </a:r>
            <a:r>
              <a:rPr lang="vi-VN" i="1" dirty="0"/>
              <a:t> ngôn </a:t>
            </a:r>
            <a:r>
              <a:rPr lang="vi-VN" i="1" dirty="0" err="1"/>
              <a:t>ngữ</a:t>
            </a:r>
            <a:r>
              <a:rPr lang="vi-VN" i="1" dirty="0"/>
              <a:t> </a:t>
            </a:r>
            <a:r>
              <a:rPr lang="vi-VN" i="1" dirty="0" err="1"/>
              <a:t>máy</a:t>
            </a:r>
            <a:r>
              <a:rPr lang="vi-VN" i="1" dirty="0"/>
              <a:t> </a:t>
            </a:r>
            <a:r>
              <a:rPr lang="vi-VN" i="1" dirty="0" err="1"/>
              <a:t>tính</a:t>
            </a:r>
            <a:r>
              <a:rPr lang="vi-VN" i="1" dirty="0"/>
              <a:t>. Chương </a:t>
            </a:r>
            <a:r>
              <a:rPr lang="vi-VN" i="1" dirty="0" err="1"/>
              <a:t>trình</a:t>
            </a:r>
            <a:r>
              <a:rPr lang="vi-VN" i="1" dirty="0"/>
              <a:t> </a:t>
            </a:r>
            <a:r>
              <a:rPr lang="vi-VN" i="1" dirty="0" err="1"/>
              <a:t>mới</a:t>
            </a:r>
            <a:r>
              <a:rPr lang="vi-VN" i="1" dirty="0"/>
              <a:t> </a:t>
            </a:r>
            <a:r>
              <a:rPr lang="vi-VN" i="1" dirty="0" err="1"/>
              <a:t>này</a:t>
            </a:r>
            <a:r>
              <a:rPr lang="vi-VN" i="1" dirty="0"/>
              <a:t> </a:t>
            </a:r>
            <a:r>
              <a:rPr lang="vi-VN" i="1" dirty="0" err="1"/>
              <a:t>được</a:t>
            </a:r>
            <a:r>
              <a:rPr lang="vi-VN" i="1" dirty="0"/>
              <a:t> </a:t>
            </a:r>
            <a:r>
              <a:rPr lang="vi-VN" i="1" dirty="0" err="1"/>
              <a:t>gọi</a:t>
            </a:r>
            <a:r>
              <a:rPr lang="vi-VN" i="1" dirty="0"/>
              <a:t> </a:t>
            </a:r>
            <a:r>
              <a:rPr lang="vi-VN" i="1" dirty="0" err="1"/>
              <a:t>là</a:t>
            </a:r>
            <a:r>
              <a:rPr lang="vi-VN" i="1" dirty="0"/>
              <a:t> </a:t>
            </a:r>
            <a:r>
              <a:rPr lang="vi-VN" i="1" dirty="0" err="1"/>
              <a:t>mã</a:t>
            </a:r>
            <a:r>
              <a:rPr lang="vi-VN" i="1" dirty="0"/>
              <a:t> </a:t>
            </a:r>
            <a:r>
              <a:rPr lang="vi-VN" i="1" dirty="0" err="1"/>
              <a:t>đối</a:t>
            </a:r>
            <a:r>
              <a:rPr lang="vi-VN" i="1" dirty="0"/>
              <a:t> </a:t>
            </a:r>
            <a:r>
              <a:rPr lang="vi-VN" i="1" dirty="0" err="1"/>
              <a:t>tượng</a:t>
            </a:r>
            <a:r>
              <a:rPr lang="vi-VN" i="1" dirty="0"/>
              <a:t> (</a:t>
            </a:r>
            <a:r>
              <a:rPr lang="vi-VN" i="1" dirty="0" err="1"/>
              <a:t>object</a:t>
            </a:r>
            <a:r>
              <a:rPr lang="vi-VN" i="1" dirty="0"/>
              <a:t> </a:t>
            </a:r>
            <a:r>
              <a:rPr lang="vi-VN" i="1" dirty="0" err="1"/>
              <a:t>code</a:t>
            </a:r>
            <a:r>
              <a:rPr lang="vi-VN" i="1" dirty="0"/>
              <a:t>)</a:t>
            </a:r>
            <a:r>
              <a:rPr lang="en-US" i="1" dirty="0"/>
              <a:t>”</a:t>
            </a:r>
            <a:r>
              <a:rPr lang="vi-VN" dirty="0"/>
              <a:t>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429000"/>
            <a:ext cx="54864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GCC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GCC - GNU </a:t>
            </a:r>
            <a:r>
              <a:rPr lang="vi-VN" dirty="0" err="1"/>
              <a:t>Compiler</a:t>
            </a:r>
            <a:r>
              <a:rPr lang="vi-VN" dirty="0"/>
              <a:t> </a:t>
            </a:r>
            <a:r>
              <a:rPr lang="vi-VN" dirty="0" err="1"/>
              <a:t>Collection</a:t>
            </a:r>
            <a:r>
              <a:rPr lang="vi-VN" dirty="0"/>
              <a:t> </a:t>
            </a:r>
            <a:r>
              <a:rPr lang="en-US" dirty="0"/>
              <a:t>- </a:t>
            </a:r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hợp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trình</a:t>
            </a:r>
            <a:r>
              <a:rPr lang="vi-VN" dirty="0"/>
              <a:t> biên </a:t>
            </a:r>
            <a:r>
              <a:rPr lang="vi-VN" dirty="0" err="1"/>
              <a:t>dịch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thiết</a:t>
            </a:r>
            <a:r>
              <a:rPr lang="vi-VN" dirty="0"/>
              <a:t> </a:t>
            </a:r>
            <a:r>
              <a:rPr lang="vi-VN" dirty="0" err="1"/>
              <a:t>kế</a:t>
            </a:r>
            <a:r>
              <a:rPr lang="vi-VN" dirty="0"/>
              <a:t> cho </a:t>
            </a:r>
            <a:r>
              <a:rPr lang="vi-VN" dirty="0" err="1"/>
              <a:t>nhiều</a:t>
            </a:r>
            <a:r>
              <a:rPr lang="vi-VN" dirty="0"/>
              <a:t> ngôn </a:t>
            </a:r>
            <a:r>
              <a:rPr lang="vi-VN" dirty="0" err="1"/>
              <a:t>ngữ</a:t>
            </a:r>
            <a:r>
              <a:rPr lang="vi-VN" dirty="0"/>
              <a:t> </a:t>
            </a:r>
            <a:r>
              <a:rPr lang="vi-VN" dirty="0" err="1"/>
              <a:t>lập</a:t>
            </a:r>
            <a:r>
              <a:rPr lang="vi-VN" dirty="0"/>
              <a:t> </a:t>
            </a:r>
            <a:r>
              <a:rPr lang="vi-VN" dirty="0" err="1"/>
              <a:t>trình</a:t>
            </a:r>
            <a:r>
              <a:rPr lang="vi-VN" dirty="0"/>
              <a:t> </a:t>
            </a:r>
            <a:r>
              <a:rPr lang="vi-VN" dirty="0" err="1"/>
              <a:t>khác</a:t>
            </a:r>
            <a:r>
              <a:rPr lang="vi-VN" dirty="0"/>
              <a:t> nhau</a:t>
            </a:r>
            <a:endParaRPr lang="en-US" dirty="0"/>
          </a:p>
          <a:p>
            <a:r>
              <a:rPr lang="en-US" dirty="0"/>
              <a:t>Thành </a:t>
            </a:r>
            <a:r>
              <a:rPr lang="vi-VN" dirty="0" err="1"/>
              <a:t>phần</a:t>
            </a:r>
            <a:r>
              <a:rPr lang="vi-VN" dirty="0"/>
              <a:t> quan </a:t>
            </a:r>
            <a:r>
              <a:rPr lang="vi-VN" dirty="0" err="1"/>
              <a:t>trọng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GNU </a:t>
            </a:r>
            <a:r>
              <a:rPr lang="vi-VN" dirty="0" err="1"/>
              <a:t>toolchain</a:t>
            </a:r>
            <a:endParaRPr lang="en-US" dirty="0"/>
          </a:p>
        </p:txBody>
      </p:sp>
      <p:sp>
        <p:nvSpPr>
          <p:cNvPr id="4" name="Hình chữ nhật 3"/>
          <p:cNvSpPr/>
          <p:nvPr/>
        </p:nvSpPr>
        <p:spPr>
          <a:xfrm>
            <a:off x="4079539" y="3676215"/>
            <a:ext cx="3278786" cy="618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Compilation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chữ nhật 4"/>
          <p:cNvSpPr/>
          <p:nvPr/>
        </p:nvSpPr>
        <p:spPr>
          <a:xfrm>
            <a:off x="4079538" y="4807262"/>
            <a:ext cx="3278786" cy="6442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Assemble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ộp Văn bản 5"/>
          <p:cNvSpPr txBox="1"/>
          <p:nvPr/>
        </p:nvSpPr>
        <p:spPr>
          <a:xfrm>
            <a:off x="6096001" y="3201864"/>
            <a:ext cx="52577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Header/ Expand Marco (.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.ii)</a:t>
            </a:r>
            <a:endParaRPr lang="en-US" sz="2200" dirty="0">
              <a:solidFill>
                <a:srgbClr val="002060"/>
              </a:solidFill>
            </a:endParaRPr>
          </a:p>
        </p:txBody>
      </p:sp>
      <p:cxnSp>
        <p:nvCxnSpPr>
          <p:cNvPr id="7" name="Đường kết nối Mũi tên Thẳng 6"/>
          <p:cNvCxnSpPr>
            <a:endCxn id="4" idx="0"/>
          </p:cNvCxnSpPr>
          <p:nvPr/>
        </p:nvCxnSpPr>
        <p:spPr>
          <a:xfrm>
            <a:off x="5718932" y="3158402"/>
            <a:ext cx="0" cy="5178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Hộp Văn bản 7"/>
          <p:cNvSpPr txBox="1"/>
          <p:nvPr/>
        </p:nvSpPr>
        <p:spPr>
          <a:xfrm>
            <a:off x="5856585" y="4401249"/>
            <a:ext cx="33496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 Code (.s)</a:t>
            </a:r>
            <a:endParaRPr lang="en-US" sz="2200" dirty="0">
              <a:solidFill>
                <a:srgbClr val="002060"/>
              </a:solidFill>
            </a:endParaRPr>
          </a:p>
        </p:txBody>
      </p:sp>
      <p:cxnSp>
        <p:nvCxnSpPr>
          <p:cNvPr id="9" name="Đường kết nối Mũi tên Thẳng 8"/>
          <p:cNvCxnSpPr>
            <a:stCxn id="4" idx="2"/>
            <a:endCxn id="5" idx="0"/>
          </p:cNvCxnSpPr>
          <p:nvPr/>
        </p:nvCxnSpPr>
        <p:spPr>
          <a:xfrm flipH="1">
            <a:off x="5718931" y="4294573"/>
            <a:ext cx="1" cy="512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Đường kết nối Mũi tên Thẳng 9"/>
          <p:cNvCxnSpPr>
            <a:stCxn id="5" idx="2"/>
          </p:cNvCxnSpPr>
          <p:nvPr/>
        </p:nvCxnSpPr>
        <p:spPr>
          <a:xfrm>
            <a:off x="5718931" y="5451502"/>
            <a:ext cx="0" cy="512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ộp Văn bản 10"/>
          <p:cNvSpPr txBox="1"/>
          <p:nvPr/>
        </p:nvSpPr>
        <p:spPr>
          <a:xfrm>
            <a:off x="5856586" y="5492403"/>
            <a:ext cx="27218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File (.o)</a:t>
            </a:r>
            <a:endParaRPr lang="en-US" sz="2200" dirty="0">
              <a:solidFill>
                <a:srgbClr val="002060"/>
              </a:solidFill>
            </a:endParaRPr>
          </a:p>
        </p:txBody>
      </p:sp>
      <p:cxnSp>
        <p:nvCxnSpPr>
          <p:cNvPr id="12" name="Đường kết nối Mũi tên Thẳng 11"/>
          <p:cNvCxnSpPr>
            <a:endCxn id="5" idx="1"/>
          </p:cNvCxnSpPr>
          <p:nvPr/>
        </p:nvCxnSpPr>
        <p:spPr>
          <a:xfrm>
            <a:off x="1510650" y="5129382"/>
            <a:ext cx="25688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ộp Văn bản 12"/>
          <p:cNvSpPr txBox="1"/>
          <p:nvPr/>
        </p:nvSpPr>
        <p:spPr>
          <a:xfrm>
            <a:off x="1510650" y="4591818"/>
            <a:ext cx="2568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files (.s) </a:t>
            </a: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Cài </a:t>
            </a:r>
            <a:r>
              <a:rPr lang="en-US" dirty="0" err="1"/>
              <a:t>đặt</a:t>
            </a:r>
            <a:r>
              <a:rPr lang="en-US" dirty="0"/>
              <a:t> GCC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GCC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cài </a:t>
            </a:r>
            <a:r>
              <a:rPr lang="en-US" dirty="0" err="1"/>
              <a:t>CodeBlock</a:t>
            </a:r>
            <a:r>
              <a:rPr lang="en-US" dirty="0"/>
              <a:t>/Dev C++</a:t>
            </a:r>
            <a:endParaRPr lang="en-US" dirty="0"/>
          </a:p>
          <a:p>
            <a:r>
              <a:rPr lang="en-US" dirty="0"/>
              <a:t>GCC – </a:t>
            </a:r>
            <a:r>
              <a:rPr lang="en-US" dirty="0" err="1"/>
              <a:t>MingW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hlinkClick r:id="rId1"/>
              </a:rPr>
              <a:t>https://codecute.com/c/huong-dan-cai-dat-trinh-bien-dich-c-c-mingw-gcc.html</a:t>
            </a:r>
            <a:endParaRPr lang="en-US" dirty="0"/>
          </a:p>
          <a:p>
            <a:r>
              <a:rPr lang="en-US" dirty="0"/>
              <a:t>GCC – Cygwin </a:t>
            </a:r>
            <a:br>
              <a:rPr lang="en-US" dirty="0"/>
            </a:br>
            <a:r>
              <a:rPr lang="en-US" dirty="0">
                <a:hlinkClick r:id="rId2"/>
              </a:rPr>
              <a:t>https://codecute.com/c/cygwin-la-gi-cai-dat-compiler-c-c-cygwin-tren-windows.html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551" y="4460580"/>
            <a:ext cx="9174897" cy="117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Command Line</a:t>
            </a:r>
            <a:endParaRPr lang="en-US" sz="5400"/>
          </a:p>
        </p:txBody>
      </p:sp>
      <p:sp>
        <p:nvSpPr>
          <p:cNvPr id="12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Kiểm tra GCC version</a:t>
            </a:r>
            <a:endParaRPr lang="en-US" sz="2200" b="1"/>
          </a:p>
          <a:p>
            <a:r>
              <a:rPr lang="en-US" sz="2200"/>
              <a:t>Tạo folder mới</a:t>
            </a:r>
            <a:endParaRPr lang="en-US" sz="2200"/>
          </a:p>
          <a:p>
            <a:r>
              <a:rPr lang="en-US" sz="2200"/>
              <a:t>Tạo một file source</a:t>
            </a:r>
            <a:endParaRPr lang="en-US" sz="2200"/>
          </a:p>
          <a:p>
            <a:r>
              <a:rPr lang="en-US" sz="2200"/>
              <a:t>Tạo một file mới</a:t>
            </a:r>
            <a:endParaRPr lang="en-US" sz="2200"/>
          </a:p>
          <a:p>
            <a:endParaRPr lang="en-US" sz="2200"/>
          </a:p>
          <a:p>
            <a:endParaRPr lang="en-US" sz="220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 rotWithShape="1">
          <a:blip r:embed="rId1"/>
          <a:srcRect l="709"/>
          <a:stretch>
            <a:fillRect/>
          </a:stretch>
        </p:blipFill>
        <p:spPr>
          <a:xfrm>
            <a:off x="4703214" y="1165998"/>
            <a:ext cx="6854802" cy="452600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Command Line</a:t>
            </a:r>
            <a:endParaRPr lang="en-US" sz="5400"/>
          </a:p>
        </p:txBody>
      </p:sp>
      <p:sp>
        <p:nvSpPr>
          <p:cNvPr id="19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Preprocessor</a:t>
            </a:r>
            <a:endParaRPr lang="en-US" sz="2200" b="1" dirty="0"/>
          </a:p>
          <a:p>
            <a:r>
              <a:rPr lang="en-US" sz="2200" dirty="0"/>
              <a:t>Compilation</a:t>
            </a:r>
            <a:endParaRPr lang="en-US" sz="2200" dirty="0"/>
          </a:p>
          <a:p>
            <a:r>
              <a:rPr lang="en-US" sz="2200" dirty="0"/>
              <a:t>Assemble</a:t>
            </a:r>
            <a:endParaRPr lang="en-US" sz="2200" dirty="0"/>
          </a:p>
          <a:p>
            <a:r>
              <a:rPr lang="en-US" sz="2200" dirty="0"/>
              <a:t>Linking</a:t>
            </a:r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Hình ảnh 5"/>
          <p:cNvPicPr>
            <a:picLocks noChangeAspect="1"/>
          </p:cNvPicPr>
          <p:nvPr/>
        </p:nvPicPr>
        <p:blipFill rotWithShape="1">
          <a:blip r:embed="rId1"/>
          <a:srcRect l="709"/>
          <a:stretch>
            <a:fillRect/>
          </a:stretch>
        </p:blipFill>
        <p:spPr>
          <a:xfrm>
            <a:off x="4703214" y="1455092"/>
            <a:ext cx="6854802" cy="394781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</a:t>
            </a:r>
            <a:endParaRPr lang="en-US" dirty="0"/>
          </a:p>
        </p:txBody>
      </p:sp>
      <p:sp>
        <p:nvSpPr>
          <p:cNvPr id="24" name="Hình chữ nhật 23"/>
          <p:cNvSpPr/>
          <p:nvPr/>
        </p:nvSpPr>
        <p:spPr>
          <a:xfrm>
            <a:off x="4260664" y="1366446"/>
            <a:ext cx="3278786" cy="7499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preprocessor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Hình chữ nhật 25"/>
          <p:cNvSpPr/>
          <p:nvPr/>
        </p:nvSpPr>
        <p:spPr>
          <a:xfrm>
            <a:off x="4260664" y="2634168"/>
            <a:ext cx="3278786" cy="618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Compilation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Hình chữ nhật 26"/>
          <p:cNvSpPr/>
          <p:nvPr/>
        </p:nvSpPr>
        <p:spPr>
          <a:xfrm>
            <a:off x="4260663" y="3765215"/>
            <a:ext cx="3278786" cy="6442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Assemble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Hình chữ nhật 27"/>
          <p:cNvSpPr/>
          <p:nvPr/>
        </p:nvSpPr>
        <p:spPr>
          <a:xfrm>
            <a:off x="4260663" y="4922144"/>
            <a:ext cx="3278785" cy="6748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Linking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Đường kết nối Mũi tên Thẳng 29"/>
          <p:cNvCxnSpPr>
            <a:endCxn id="24" idx="0"/>
          </p:cNvCxnSpPr>
          <p:nvPr/>
        </p:nvCxnSpPr>
        <p:spPr>
          <a:xfrm>
            <a:off x="5900057" y="802432"/>
            <a:ext cx="0" cy="5640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Hộp Văn bản 32"/>
          <p:cNvSpPr txBox="1"/>
          <p:nvPr/>
        </p:nvSpPr>
        <p:spPr>
          <a:xfrm>
            <a:off x="6277126" y="937925"/>
            <a:ext cx="36249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files (.c / .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.h)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39" name="Hộp Văn bản 38"/>
          <p:cNvSpPr txBox="1"/>
          <p:nvPr/>
        </p:nvSpPr>
        <p:spPr>
          <a:xfrm>
            <a:off x="6277126" y="2159817"/>
            <a:ext cx="52577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Header/ Expand Marco (.</a:t>
            </a:r>
            <a:r>
              <a:rPr lang="en-US" sz="2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.ii)</a:t>
            </a:r>
            <a:endParaRPr lang="en-US" sz="2200" dirty="0">
              <a:solidFill>
                <a:srgbClr val="002060"/>
              </a:solidFill>
            </a:endParaRPr>
          </a:p>
        </p:txBody>
      </p:sp>
      <p:cxnSp>
        <p:nvCxnSpPr>
          <p:cNvPr id="44" name="Đường kết nối Mũi tên Thẳng 43"/>
          <p:cNvCxnSpPr>
            <a:stCxn id="24" idx="2"/>
            <a:endCxn id="26" idx="0"/>
          </p:cNvCxnSpPr>
          <p:nvPr/>
        </p:nvCxnSpPr>
        <p:spPr>
          <a:xfrm>
            <a:off x="5900057" y="2116355"/>
            <a:ext cx="0" cy="5178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Hộp Văn bản 44"/>
          <p:cNvSpPr txBox="1"/>
          <p:nvPr/>
        </p:nvSpPr>
        <p:spPr>
          <a:xfrm>
            <a:off x="6037710" y="3359202"/>
            <a:ext cx="33496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Assembly Code (.s)</a:t>
            </a:r>
            <a:endParaRPr lang="en-US" sz="2200" dirty="0">
              <a:solidFill>
                <a:srgbClr val="002060"/>
              </a:solidFill>
            </a:endParaRPr>
          </a:p>
        </p:txBody>
      </p:sp>
      <p:cxnSp>
        <p:nvCxnSpPr>
          <p:cNvPr id="52" name="Đường kết nối Mũi tên Thẳng 51"/>
          <p:cNvCxnSpPr>
            <a:stCxn id="26" idx="2"/>
            <a:endCxn id="27" idx="0"/>
          </p:cNvCxnSpPr>
          <p:nvPr/>
        </p:nvCxnSpPr>
        <p:spPr>
          <a:xfrm flipH="1">
            <a:off x="5900056" y="3252526"/>
            <a:ext cx="1" cy="512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Đường kết nối Mũi tên Thẳng 54"/>
          <p:cNvCxnSpPr>
            <a:stCxn id="27" idx="2"/>
            <a:endCxn id="28" idx="0"/>
          </p:cNvCxnSpPr>
          <p:nvPr/>
        </p:nvCxnSpPr>
        <p:spPr>
          <a:xfrm>
            <a:off x="5900056" y="4409455"/>
            <a:ext cx="0" cy="512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Đường kết nối Mũi tên Thẳng 64"/>
          <p:cNvCxnSpPr>
            <a:stCxn id="28" idx="2"/>
          </p:cNvCxnSpPr>
          <p:nvPr/>
        </p:nvCxnSpPr>
        <p:spPr>
          <a:xfrm>
            <a:off x="5900056" y="5596951"/>
            <a:ext cx="0" cy="5159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Hộp Văn bản 68"/>
          <p:cNvSpPr txBox="1"/>
          <p:nvPr/>
        </p:nvSpPr>
        <p:spPr>
          <a:xfrm>
            <a:off x="6037711" y="4450356"/>
            <a:ext cx="27218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File (.o)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70" name="Hộp Văn bản 69"/>
          <p:cNvSpPr txBox="1"/>
          <p:nvPr/>
        </p:nvSpPr>
        <p:spPr>
          <a:xfrm>
            <a:off x="6037710" y="5678753"/>
            <a:ext cx="35230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Executable file (.exe)</a:t>
            </a:r>
            <a:endParaRPr lang="en-US" sz="2200" dirty="0">
              <a:solidFill>
                <a:srgbClr val="002060"/>
              </a:solidFill>
            </a:endParaRPr>
          </a:p>
        </p:txBody>
      </p:sp>
      <p:cxnSp>
        <p:nvCxnSpPr>
          <p:cNvPr id="71" name="Đường kết nối Mũi tên Thẳng 70"/>
          <p:cNvCxnSpPr>
            <a:endCxn id="27" idx="1"/>
          </p:cNvCxnSpPr>
          <p:nvPr/>
        </p:nvCxnSpPr>
        <p:spPr>
          <a:xfrm>
            <a:off x="1691775" y="4087335"/>
            <a:ext cx="25688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Hộp Văn bản 74"/>
          <p:cNvSpPr txBox="1"/>
          <p:nvPr/>
        </p:nvSpPr>
        <p:spPr>
          <a:xfrm>
            <a:off x="1691775" y="3549771"/>
            <a:ext cx="2568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files (.s) </a:t>
            </a: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7" name="Đường kết nối Mũi tên Thẳng 76"/>
          <p:cNvCxnSpPr>
            <a:endCxn id="28" idx="1"/>
          </p:cNvCxnSpPr>
          <p:nvPr/>
        </p:nvCxnSpPr>
        <p:spPr>
          <a:xfrm>
            <a:off x="1123811" y="5259548"/>
            <a:ext cx="31368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Hộp Văn bản 78"/>
          <p:cNvSpPr txBox="1"/>
          <p:nvPr/>
        </p:nvSpPr>
        <p:spPr>
          <a:xfrm>
            <a:off x="1123811" y="4721351"/>
            <a:ext cx="31368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Library (.lib / .a) </a:t>
            </a:r>
            <a:endParaRPr lang="en-US" sz="2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Chương trình </a:t>
            </a:r>
            <a:br>
              <a:rPr lang="en-US" dirty="0"/>
            </a:br>
            <a:r>
              <a:rPr lang="en-US" dirty="0"/>
              <a:t>Makefile </a:t>
            </a:r>
            <a:r>
              <a:rPr lang="en-US" dirty="0" err="1"/>
              <a:t>đơn</a:t>
            </a:r>
            <a:r>
              <a:rPr lang="en-US" dirty="0"/>
              <a:t> giản</a:t>
            </a:r>
            <a:endParaRPr lang="en-US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Tại</a:t>
            </a:r>
            <a:r>
              <a:rPr lang="en-US" sz="2800" dirty="0"/>
              <a:t> </a:t>
            </a:r>
            <a:r>
              <a:rPr lang="en-US" sz="2800" dirty="0" err="1"/>
              <a:t>sao</a:t>
            </a:r>
            <a:r>
              <a:rPr lang="en-US" sz="2800" dirty="0"/>
              <a:t>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/>
              <a:t> Makefile</a:t>
            </a:r>
            <a:endParaRPr lang="en-US" sz="2800"/>
          </a:p>
          <a:p>
            <a:r>
              <a:rPr lang="en-US" sz="2800" dirty="0" err="1"/>
              <a:t>Khái</a:t>
            </a:r>
            <a:r>
              <a:rPr lang="en-US" sz="2800" dirty="0"/>
              <a:t> </a:t>
            </a:r>
            <a:r>
              <a:rPr lang="en-US" sz="2800" dirty="0" err="1"/>
              <a:t>niệm</a:t>
            </a:r>
            <a:r>
              <a:rPr lang="en-US" sz="2800" dirty="0"/>
              <a:t> </a:t>
            </a: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bản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Makefile</a:t>
            </a:r>
            <a:endParaRPr lang="en-US" sz="2800" dirty="0"/>
          </a:p>
          <a:p>
            <a:r>
              <a:rPr lang="en-US" sz="2800" dirty="0"/>
              <a:t>Viết Chương trình Makefile </a:t>
            </a:r>
            <a:r>
              <a:rPr lang="en-US" sz="2800" dirty="0" err="1"/>
              <a:t>đơn</a:t>
            </a:r>
            <a:r>
              <a:rPr lang="en-US" sz="2800" dirty="0"/>
              <a:t> giản </a:t>
            </a:r>
            <a:r>
              <a:rPr lang="en-US" sz="2800" dirty="0" err="1"/>
              <a:t>với</a:t>
            </a:r>
            <a:r>
              <a:rPr lang="en-US" sz="2800" dirty="0"/>
              <a:t> C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8375" y="1222375"/>
            <a:ext cx="10254615" cy="5499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Hình ảnh 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6567" y="5817333"/>
            <a:ext cx="1439793" cy="525101"/>
          </a:xfrm>
          <a:prstGeom prst="rect">
            <a:avLst/>
          </a:prstGeom>
          <a:ln>
            <a:noFill/>
          </a:ln>
        </p:spPr>
      </p:pic>
      <p:sp>
        <p:nvSpPr>
          <p:cNvPr id="25" name="Hộp Văn bản 24"/>
          <p:cNvSpPr txBox="1"/>
          <p:nvPr/>
        </p:nvSpPr>
        <p:spPr>
          <a:xfrm>
            <a:off x="6798708" y="3425381"/>
            <a:ext cx="3690730" cy="83099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 this file to the project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Rebuild all file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need </a:t>
            </a:r>
            <a:r>
              <a:rPr lang="en-US" dirty="0" err="1"/>
              <a:t>makefile</a:t>
            </a:r>
            <a:r>
              <a:rPr lang="en-US" dirty="0"/>
              <a:t>?</a:t>
            </a: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 rotWithShape="1">
          <a:blip r:embed="rId2"/>
          <a:srcRect r="25534"/>
          <a:stretch>
            <a:fillRect/>
          </a:stretch>
        </p:blipFill>
        <p:spPr>
          <a:xfrm>
            <a:off x="8621906" y="598876"/>
            <a:ext cx="2490042" cy="231500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Hộp Văn bản 6"/>
          <p:cNvSpPr txBox="1"/>
          <p:nvPr/>
        </p:nvSpPr>
        <p:spPr>
          <a:xfrm>
            <a:off x="1215886" y="1353075"/>
            <a:ext cx="5559287" cy="8925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Your project have many source files and you build it by an IDE (Keil C)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Đường kết nối Mũi tên Thẳng 8"/>
          <p:cNvCxnSpPr>
            <a:stCxn id="7" idx="3"/>
            <a:endCxn id="5" idx="1"/>
          </p:cNvCxnSpPr>
          <p:nvPr/>
        </p:nvCxnSpPr>
        <p:spPr>
          <a:xfrm flipV="1">
            <a:off x="6775173" y="1756380"/>
            <a:ext cx="1846733" cy="42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Hộp Văn bản 11"/>
          <p:cNvSpPr txBox="1"/>
          <p:nvPr/>
        </p:nvSpPr>
        <p:spPr>
          <a:xfrm>
            <a:off x="1215886" y="2508113"/>
            <a:ext cx="5559287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 a time, you want to edit or add a file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Hình ảnh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4990" y="3153821"/>
            <a:ext cx="1740183" cy="634655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21" name="Đường kết nối: Mũi tên Gấp khúc 20"/>
          <p:cNvCxnSpPr>
            <a:stCxn id="19" idx="3"/>
            <a:endCxn id="5" idx="2"/>
          </p:cNvCxnSpPr>
          <p:nvPr/>
        </p:nvCxnSpPr>
        <p:spPr>
          <a:xfrm flipV="1">
            <a:off x="6775173" y="2913883"/>
            <a:ext cx="3091754" cy="55726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Đường kết nối: Mũi tên Gấp khúc 23"/>
          <p:cNvCxnSpPr>
            <a:stCxn id="12" idx="2"/>
            <a:endCxn id="19" idx="1"/>
          </p:cNvCxnSpPr>
          <p:nvPr/>
        </p:nvCxnSpPr>
        <p:spPr>
          <a:xfrm rot="16200000" flipH="1">
            <a:off x="4264575" y="2700733"/>
            <a:ext cx="501371" cy="103946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Đường kết nối: Mũi tên Gấp khúc 26"/>
          <p:cNvCxnSpPr>
            <a:stCxn id="25" idx="3"/>
            <a:endCxn id="28" idx="3"/>
          </p:cNvCxnSpPr>
          <p:nvPr/>
        </p:nvCxnSpPr>
        <p:spPr>
          <a:xfrm>
            <a:off x="10489438" y="3840880"/>
            <a:ext cx="933936" cy="2002746"/>
          </a:xfrm>
          <a:prstGeom prst="bentConnector3">
            <a:avLst>
              <a:gd name="adj1" fmla="val 124477"/>
            </a:avLst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Hộp Văn bản 27"/>
          <p:cNvSpPr txBox="1"/>
          <p:nvPr/>
        </p:nvSpPr>
        <p:spPr>
          <a:xfrm>
            <a:off x="7825408" y="5428127"/>
            <a:ext cx="3597966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 many time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rebuild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 a big project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Đường kết nối Mũi tên Thẳng 39"/>
          <p:cNvCxnSpPr>
            <a:stCxn id="7" idx="2"/>
            <a:endCxn id="12" idx="0"/>
          </p:cNvCxnSpPr>
          <p:nvPr/>
        </p:nvCxnSpPr>
        <p:spPr>
          <a:xfrm>
            <a:off x="3995530" y="2245627"/>
            <a:ext cx="0" cy="2624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Hộp Văn bản 52"/>
          <p:cNvSpPr txBox="1"/>
          <p:nvPr/>
        </p:nvSpPr>
        <p:spPr>
          <a:xfrm>
            <a:off x="2143538" y="5428126"/>
            <a:ext cx="3703981" cy="83099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need to build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edited/added files: led .c 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Đường kết nối Mũi tên Thẳng 54"/>
          <p:cNvCxnSpPr>
            <a:stCxn id="28" idx="1"/>
            <a:endCxn id="53" idx="3"/>
          </p:cNvCxnSpPr>
          <p:nvPr/>
        </p:nvCxnSpPr>
        <p:spPr>
          <a:xfrm flipH="1" flipV="1">
            <a:off x="5847519" y="5843625"/>
            <a:ext cx="1977889" cy="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Hộp Văn bản 61"/>
          <p:cNvSpPr txBox="1"/>
          <p:nvPr/>
        </p:nvSpPr>
        <p:spPr>
          <a:xfrm>
            <a:off x="2763074" y="4379799"/>
            <a:ext cx="2464907" cy="523220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Makefile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???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Đường kết nối Mũi tên Thẳng 62"/>
          <p:cNvCxnSpPr>
            <a:stCxn id="53" idx="0"/>
            <a:endCxn id="62" idx="2"/>
          </p:cNvCxnSpPr>
          <p:nvPr/>
        </p:nvCxnSpPr>
        <p:spPr>
          <a:xfrm flipH="1" flipV="1">
            <a:off x="3995528" y="4903019"/>
            <a:ext cx="1" cy="52510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Hộp Văn bản 68"/>
          <p:cNvSpPr txBox="1"/>
          <p:nvPr/>
        </p:nvSpPr>
        <p:spPr>
          <a:xfrm>
            <a:off x="6062183" y="5381959"/>
            <a:ext cx="163732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 only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Makefile</a:t>
            </a:r>
            <a:r>
              <a:rPr lang="en-US" dirty="0"/>
              <a:t>?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Makefile</a:t>
            </a:r>
            <a:r>
              <a:rPr lang="en-US" dirty="0"/>
              <a:t> is a script file format that contains some information: </a:t>
            </a:r>
            <a:endParaRPr lang="en-US" dirty="0"/>
          </a:p>
          <a:p>
            <a:pPr lvl="1"/>
            <a:r>
              <a:rPr lang="en-US" dirty="0"/>
              <a:t>Project structure (file, dependencies)</a:t>
            </a:r>
            <a:endParaRPr lang="en-US" dirty="0"/>
          </a:p>
          <a:p>
            <a:pPr lvl="1"/>
            <a:r>
              <a:rPr lang="en-US" dirty="0"/>
              <a:t>Commands to create files (object file, elf/bin/hex files, …)</a:t>
            </a:r>
            <a:endParaRPr lang="en-US" dirty="0"/>
          </a:p>
          <a:p>
            <a:pPr lvl="1"/>
            <a:r>
              <a:rPr lang="en-US" dirty="0"/>
              <a:t>The make command will read </a:t>
            </a:r>
            <a:r>
              <a:rPr lang="en-US" dirty="0" err="1"/>
              <a:t>makefile</a:t>
            </a:r>
            <a:r>
              <a:rPr lang="en-US" dirty="0"/>
              <a:t> content, understand project’s structure and execute the commands</a:t>
            </a:r>
            <a:endParaRPr lang="en-US" dirty="0"/>
          </a:p>
          <a:p>
            <a:r>
              <a:rPr lang="en-US" dirty="0"/>
              <a:t>Tools for </a:t>
            </a:r>
            <a:r>
              <a:rPr lang="en-US" dirty="0" err="1"/>
              <a:t>Makefile</a:t>
            </a:r>
            <a:r>
              <a:rPr lang="en-US" dirty="0"/>
              <a:t>:</a:t>
            </a:r>
            <a:endParaRPr lang="en-US" dirty="0"/>
          </a:p>
          <a:p>
            <a:pPr lvl="1"/>
            <a:r>
              <a:rPr lang="en-US" dirty="0"/>
              <a:t>Cygwin/</a:t>
            </a:r>
            <a:r>
              <a:rPr lang="en-US" dirty="0" err="1"/>
              <a:t>Mingw</a:t>
            </a:r>
            <a:r>
              <a:rPr lang="en-US" dirty="0"/>
              <a:t>/GNU Make </a:t>
            </a: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098" y="4388678"/>
            <a:ext cx="8293804" cy="17265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GCC commands to </a:t>
            </a:r>
            <a:r>
              <a:rPr lang="en-US" dirty="0" err="1"/>
              <a:t>Makefile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My project: 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main.c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	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 	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main.o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		main.exe</a:t>
            </a:r>
            <a:endParaRPr lang="en-US" b="1" dirty="0">
              <a:solidFill>
                <a:schemeClr val="accent2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i="1" dirty="0">
                <a:sym typeface="Wingdings" panose="05000000000000000000" pitchFamily="2" charset="2"/>
              </a:rPr>
              <a:t>With GCC: </a:t>
            </a:r>
            <a:endParaRPr lang="en-US" b="1" i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i="1" dirty="0">
                <a:sym typeface="Wingdings" panose="05000000000000000000" pitchFamily="2" charset="2"/>
              </a:rPr>
              <a:t>With </a:t>
            </a:r>
            <a:r>
              <a:rPr lang="en-US" b="1" i="1" dirty="0" err="1">
                <a:sym typeface="Wingdings" panose="05000000000000000000" pitchFamily="2" charset="2"/>
              </a:rPr>
              <a:t>Makefile</a:t>
            </a:r>
            <a:r>
              <a:rPr lang="en-US" b="1" i="1" dirty="0">
                <a:sym typeface="Wingdings" panose="05000000000000000000" pitchFamily="2" charset="2"/>
              </a:rPr>
              <a:t>: </a:t>
            </a:r>
            <a:endParaRPr lang="en-US" b="1" i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867" y="792304"/>
            <a:ext cx="3267075" cy="215265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  <p:sp>
        <p:nvSpPr>
          <p:cNvPr id="6" name="Hộp Văn bản 5"/>
          <p:cNvSpPr txBox="1"/>
          <p:nvPr/>
        </p:nvSpPr>
        <p:spPr>
          <a:xfrm>
            <a:off x="8477867" y="361417"/>
            <a:ext cx="3267075" cy="430887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/>
              <a:t>main.c</a:t>
            </a:r>
            <a:endParaRPr lang="en-US" sz="2200" dirty="0"/>
          </a:p>
        </p:txBody>
      </p:sp>
      <p:pic>
        <p:nvPicPr>
          <p:cNvPr id="8" name="Hình ảnh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7414"/>
            <a:ext cx="3467100" cy="1362075"/>
          </a:xfrm>
          <a:prstGeom prst="rect">
            <a:avLst/>
          </a:prstGeom>
        </p:spPr>
      </p:pic>
      <p:cxnSp>
        <p:nvCxnSpPr>
          <p:cNvPr id="10" name="Đường kết nối Mũi tên Thẳng 9"/>
          <p:cNvCxnSpPr>
            <a:endCxn id="11" idx="1"/>
          </p:cNvCxnSpPr>
          <p:nvPr/>
        </p:nvCxnSpPr>
        <p:spPr>
          <a:xfrm flipV="1">
            <a:off x="4234172" y="2837414"/>
            <a:ext cx="604527" cy="2154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ộp Văn bản 10"/>
          <p:cNvSpPr txBox="1"/>
          <p:nvPr/>
        </p:nvSpPr>
        <p:spPr>
          <a:xfrm>
            <a:off x="4838699" y="2621970"/>
            <a:ext cx="2959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Generate object file 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Hộp Văn bản 18"/>
          <p:cNvSpPr txBox="1"/>
          <p:nvPr/>
        </p:nvSpPr>
        <p:spPr>
          <a:xfrm>
            <a:off x="4869758" y="3213556"/>
            <a:ext cx="2959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Generate .exe file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Đường kết nối Mũi tên Thẳng 19"/>
          <p:cNvCxnSpPr>
            <a:endCxn id="19" idx="1"/>
          </p:cNvCxnSpPr>
          <p:nvPr/>
        </p:nvCxnSpPr>
        <p:spPr>
          <a:xfrm>
            <a:off x="4164496" y="3429000"/>
            <a:ext cx="70526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Hộp Văn bản 22"/>
          <p:cNvSpPr txBox="1"/>
          <p:nvPr/>
        </p:nvSpPr>
        <p:spPr>
          <a:xfrm>
            <a:off x="4616105" y="3756449"/>
            <a:ext cx="18741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Run .exe file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Đường kết nối Mũi tên Thẳng 23"/>
          <p:cNvCxnSpPr>
            <a:endCxn id="23" idx="1"/>
          </p:cNvCxnSpPr>
          <p:nvPr/>
        </p:nvCxnSpPr>
        <p:spPr>
          <a:xfrm>
            <a:off x="2266122" y="3971893"/>
            <a:ext cx="234998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Hình ảnh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659" y="4197833"/>
            <a:ext cx="1144079" cy="430887"/>
          </a:xfrm>
          <a:prstGeom prst="rect">
            <a:avLst/>
          </a:prstGeom>
        </p:spPr>
      </p:pic>
      <p:cxnSp>
        <p:nvCxnSpPr>
          <p:cNvPr id="30" name="Đường kết nối Mũi tên Thẳng 29"/>
          <p:cNvCxnSpPr>
            <a:stCxn id="23" idx="3"/>
            <a:endCxn id="28" idx="1"/>
          </p:cNvCxnSpPr>
          <p:nvPr/>
        </p:nvCxnSpPr>
        <p:spPr>
          <a:xfrm>
            <a:off x="6490253" y="3971893"/>
            <a:ext cx="3001406" cy="4413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Hộp Văn bản 31"/>
          <p:cNvSpPr txBox="1"/>
          <p:nvPr/>
        </p:nvSpPr>
        <p:spPr>
          <a:xfrm>
            <a:off x="9491659" y="3768602"/>
            <a:ext cx="11440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Hình ảnh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78922"/>
            <a:ext cx="4057650" cy="1809750"/>
          </a:xfrm>
          <a:prstGeom prst="rect">
            <a:avLst/>
          </a:prstGeom>
        </p:spPr>
      </p:pic>
      <p:sp>
        <p:nvSpPr>
          <p:cNvPr id="35" name="Hộp Văn bản 34"/>
          <p:cNvSpPr txBox="1"/>
          <p:nvPr/>
        </p:nvSpPr>
        <p:spPr>
          <a:xfrm>
            <a:off x="6096000" y="5296255"/>
            <a:ext cx="34778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 GCC commands into one script file  </a:t>
            </a:r>
            <a:endParaRPr lang="en-US" sz="2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Đường kết nối Mũi tên Thẳng 36"/>
          <p:cNvCxnSpPr>
            <a:stCxn id="34" idx="3"/>
            <a:endCxn id="35" idx="1"/>
          </p:cNvCxnSpPr>
          <p:nvPr/>
        </p:nvCxnSpPr>
        <p:spPr>
          <a:xfrm flipV="1">
            <a:off x="4895850" y="5680976"/>
            <a:ext cx="1200150" cy="28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Đường kết nối Mũi tên Thẳng 41"/>
          <p:cNvCxnSpPr/>
          <p:nvPr/>
        </p:nvCxnSpPr>
        <p:spPr>
          <a:xfrm flipV="1">
            <a:off x="4797185" y="4526939"/>
            <a:ext cx="4694474" cy="4221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Cài </a:t>
            </a:r>
            <a:r>
              <a:rPr lang="en-US" dirty="0" err="1"/>
              <a:t>đặt</a:t>
            </a:r>
            <a:r>
              <a:rPr lang="en-US" dirty="0"/>
              <a:t> Cygwin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1"/>
              </a:rPr>
              <a:t>https://www.cygwin.com/</a:t>
            </a:r>
            <a:br>
              <a:rPr lang="en-US" dirty="0"/>
            </a:br>
            <a:r>
              <a:rPr lang="en-US" dirty="0" err="1"/>
              <a:t>Đã</a:t>
            </a:r>
            <a:r>
              <a:rPr lang="en-US" dirty="0"/>
              <a:t> cài </a:t>
            </a:r>
            <a:r>
              <a:rPr lang="en-US" dirty="0" err="1"/>
              <a:t>đặt</a:t>
            </a:r>
            <a:r>
              <a:rPr lang="en-US" dirty="0"/>
              <a:t> ở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2 – </a:t>
            </a:r>
            <a:r>
              <a:rPr lang="en-US" dirty="0" err="1"/>
              <a:t>Lưu</a:t>
            </a:r>
            <a:r>
              <a:rPr lang="en-US" dirty="0"/>
              <a:t> ý, cài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packgage</a:t>
            </a:r>
            <a:r>
              <a:rPr lang="en-US" dirty="0"/>
              <a:t> </a:t>
            </a:r>
            <a:r>
              <a:rPr lang="en-US" b="1" dirty="0"/>
              <a:t>GCC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make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</a:t>
            </a:r>
            <a:r>
              <a:rPr lang="en-US" dirty="0" err="1"/>
              <a:t>Makefile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form of a basic simple </a:t>
            </a:r>
            <a:r>
              <a:rPr lang="en-US" dirty="0" err="1"/>
              <a:t>makefile</a:t>
            </a: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442" y="3331371"/>
            <a:ext cx="5295900" cy="2171700"/>
          </a:xfrm>
          <a:prstGeom prst="rect">
            <a:avLst/>
          </a:prstGeom>
        </p:spPr>
      </p:pic>
      <p:cxnSp>
        <p:nvCxnSpPr>
          <p:cNvPr id="7" name="Đường kết nối Mũi tên Thẳng 6"/>
          <p:cNvCxnSpPr/>
          <p:nvPr/>
        </p:nvCxnSpPr>
        <p:spPr>
          <a:xfrm>
            <a:off x="3776870" y="4192381"/>
            <a:ext cx="1292087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Hộp Văn bản 7"/>
          <p:cNvSpPr txBox="1"/>
          <p:nvPr/>
        </p:nvSpPr>
        <p:spPr>
          <a:xfrm>
            <a:off x="1828115" y="4883070"/>
            <a:ext cx="163732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 space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Đường kết nối Mũi tên Thẳng 9"/>
          <p:cNvCxnSpPr>
            <a:endCxn id="8" idx="0"/>
          </p:cNvCxnSpPr>
          <p:nvPr/>
        </p:nvCxnSpPr>
        <p:spPr>
          <a:xfrm flipH="1">
            <a:off x="2646777" y="4192381"/>
            <a:ext cx="1805954" cy="690689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Đường kết nối: Cong 12"/>
          <p:cNvCxnSpPr>
            <a:stCxn id="14" idx="5"/>
            <a:endCxn id="18" idx="0"/>
          </p:cNvCxnSpPr>
          <p:nvPr/>
        </p:nvCxnSpPr>
        <p:spPr>
          <a:xfrm rot="16200000" flipH="1">
            <a:off x="6960112" y="3790172"/>
            <a:ext cx="1298546" cy="2467914"/>
          </a:xfrm>
          <a:prstGeom prst="curved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Hình Bầu dục 13"/>
          <p:cNvSpPr/>
          <p:nvPr/>
        </p:nvSpPr>
        <p:spPr>
          <a:xfrm>
            <a:off x="5068957" y="3874329"/>
            <a:ext cx="1530626" cy="586404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Hộp Văn bản 17"/>
          <p:cNvSpPr txBox="1"/>
          <p:nvPr/>
        </p:nvSpPr>
        <p:spPr>
          <a:xfrm>
            <a:off x="6912326" y="5673402"/>
            <a:ext cx="3862032" cy="46166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that make carry out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Hình Bầu dục 20"/>
          <p:cNvSpPr/>
          <p:nvPr/>
        </p:nvSpPr>
        <p:spPr>
          <a:xfrm>
            <a:off x="5659810" y="3338832"/>
            <a:ext cx="2669182" cy="586404"/>
          </a:xfrm>
          <a:prstGeom prst="ellipse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Đường kết nối: Cong 21"/>
          <p:cNvCxnSpPr>
            <a:stCxn id="21" idx="7"/>
            <a:endCxn id="23" idx="2"/>
          </p:cNvCxnSpPr>
          <p:nvPr/>
        </p:nvCxnSpPr>
        <p:spPr>
          <a:xfrm rot="5400000" flipH="1" flipV="1">
            <a:off x="8018716" y="2378110"/>
            <a:ext cx="965983" cy="1127217"/>
          </a:xfrm>
          <a:prstGeom prst="curved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Hộp Văn bản 22"/>
          <p:cNvSpPr txBox="1"/>
          <p:nvPr/>
        </p:nvSpPr>
        <p:spPr>
          <a:xfrm>
            <a:off x="7134300" y="1997061"/>
            <a:ext cx="3862032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files to make target 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Đường kết nối: Cong 26"/>
          <p:cNvCxnSpPr>
            <a:stCxn id="28" idx="1"/>
            <a:endCxn id="29" idx="2"/>
          </p:cNvCxnSpPr>
          <p:nvPr/>
        </p:nvCxnSpPr>
        <p:spPr>
          <a:xfrm rot="16200000" flipV="1">
            <a:off x="2872876" y="2525154"/>
            <a:ext cx="868358" cy="1048971"/>
          </a:xfrm>
          <a:prstGeom prst="curvedConnector3">
            <a:avLst>
              <a:gd name="adj1" fmla="val 50000"/>
            </a:avLst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Hình Bầu dục 27"/>
          <p:cNvSpPr/>
          <p:nvPr/>
        </p:nvSpPr>
        <p:spPr>
          <a:xfrm>
            <a:off x="3607385" y="3397942"/>
            <a:ext cx="1530626" cy="586404"/>
          </a:xfrm>
          <a:prstGeom prst="ellipse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Hộp Văn bản 28"/>
          <p:cNvSpPr txBox="1"/>
          <p:nvPr/>
        </p:nvSpPr>
        <p:spPr>
          <a:xfrm>
            <a:off x="1401418" y="2153796"/>
            <a:ext cx="2762302" cy="461665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/ File target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Hình ảnh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8485" y="1958009"/>
            <a:ext cx="7687089" cy="3904553"/>
          </a:xfrm>
          <a:prstGeom prst="rect">
            <a:avLst/>
          </a:prstGeom>
        </p:spPr>
      </p:pic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examples</a:t>
            </a:r>
            <a:endParaRPr lang="en-US" dirty="0"/>
          </a:p>
        </p:txBody>
      </p:sp>
      <p:sp>
        <p:nvSpPr>
          <p:cNvPr id="6" name="Hình Bầu dục 5"/>
          <p:cNvSpPr/>
          <p:nvPr/>
        </p:nvSpPr>
        <p:spPr>
          <a:xfrm>
            <a:off x="2216425" y="1904715"/>
            <a:ext cx="1550505" cy="500674"/>
          </a:xfrm>
          <a:prstGeom prst="ellipse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ộp Văn bản 6"/>
          <p:cNvSpPr txBox="1"/>
          <p:nvPr/>
        </p:nvSpPr>
        <p:spPr>
          <a:xfrm>
            <a:off x="695740" y="1282926"/>
            <a:ext cx="1868556" cy="461665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Target file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Đường kết nối: Mũi tên Gấp khúc 8"/>
          <p:cNvCxnSpPr>
            <a:stCxn id="6" idx="0"/>
            <a:endCxn id="7" idx="3"/>
          </p:cNvCxnSpPr>
          <p:nvPr/>
        </p:nvCxnSpPr>
        <p:spPr>
          <a:xfrm rot="16200000" flipV="1">
            <a:off x="2582509" y="1495546"/>
            <a:ext cx="390956" cy="427382"/>
          </a:xfrm>
          <a:prstGeom prst="bentConnector2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ộp Văn bản 9"/>
          <p:cNvSpPr txBox="1"/>
          <p:nvPr/>
        </p:nvSpPr>
        <p:spPr>
          <a:xfrm>
            <a:off x="188896" y="2558076"/>
            <a:ext cx="1868556" cy="461665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Hình Bầu dục 11"/>
          <p:cNvSpPr/>
          <p:nvPr/>
        </p:nvSpPr>
        <p:spPr>
          <a:xfrm>
            <a:off x="2216425" y="3019741"/>
            <a:ext cx="1411358" cy="500674"/>
          </a:xfrm>
          <a:prstGeom prst="ellipse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ình Bầu dục 12"/>
          <p:cNvSpPr/>
          <p:nvPr/>
        </p:nvSpPr>
        <p:spPr>
          <a:xfrm>
            <a:off x="2338180" y="3805600"/>
            <a:ext cx="879613" cy="500674"/>
          </a:xfrm>
          <a:prstGeom prst="ellipse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Hình Bầu dục 13"/>
          <p:cNvSpPr/>
          <p:nvPr/>
        </p:nvSpPr>
        <p:spPr>
          <a:xfrm>
            <a:off x="2216426" y="4941317"/>
            <a:ext cx="1361662" cy="500674"/>
          </a:xfrm>
          <a:prstGeom prst="ellipse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Đường kết nối: Mũi tên Gấp khúc 15"/>
          <p:cNvCxnSpPr>
            <a:stCxn id="12" idx="2"/>
            <a:endCxn id="10" idx="2"/>
          </p:cNvCxnSpPr>
          <p:nvPr/>
        </p:nvCxnSpPr>
        <p:spPr>
          <a:xfrm rot="10800000">
            <a:off x="1123175" y="3019742"/>
            <a:ext cx="1093251" cy="250337"/>
          </a:xfrm>
          <a:prstGeom prst="bentConnector2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Đường kết nối: Mũi tên Gấp khúc 16"/>
          <p:cNvCxnSpPr>
            <a:stCxn id="13" idx="2"/>
            <a:endCxn id="10" idx="2"/>
          </p:cNvCxnSpPr>
          <p:nvPr/>
        </p:nvCxnSpPr>
        <p:spPr>
          <a:xfrm rot="10800000">
            <a:off x="1123174" y="3019741"/>
            <a:ext cx="1215006" cy="1036196"/>
          </a:xfrm>
          <a:prstGeom prst="bentConnector2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: Mũi tên Gấp khúc 19"/>
          <p:cNvCxnSpPr>
            <a:stCxn id="14" idx="2"/>
            <a:endCxn id="10" idx="2"/>
          </p:cNvCxnSpPr>
          <p:nvPr/>
        </p:nvCxnSpPr>
        <p:spPr>
          <a:xfrm rot="10800000">
            <a:off x="1123174" y="3019742"/>
            <a:ext cx="1093252" cy="2171913"/>
          </a:xfrm>
          <a:prstGeom prst="bentConnector2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Hộp Văn bản 22"/>
          <p:cNvSpPr txBox="1"/>
          <p:nvPr/>
        </p:nvSpPr>
        <p:spPr>
          <a:xfrm>
            <a:off x="6388864" y="1052093"/>
            <a:ext cx="403728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files to make target file 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Hình Bầu dục 23"/>
          <p:cNvSpPr/>
          <p:nvPr/>
        </p:nvSpPr>
        <p:spPr>
          <a:xfrm>
            <a:off x="3766930" y="1817619"/>
            <a:ext cx="2544418" cy="586404"/>
          </a:xfrm>
          <a:prstGeom prst="ellipse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Đường kết nối: Mũi tên Gấp khúc 25"/>
          <p:cNvCxnSpPr>
            <a:stCxn id="24" idx="0"/>
            <a:endCxn id="23" idx="1"/>
          </p:cNvCxnSpPr>
          <p:nvPr/>
        </p:nvCxnSpPr>
        <p:spPr>
          <a:xfrm rot="5400000" flipH="1" flipV="1">
            <a:off x="5446655" y="875411"/>
            <a:ext cx="534693" cy="134972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Hộp Văn bản 26"/>
          <p:cNvSpPr txBox="1"/>
          <p:nvPr/>
        </p:nvSpPr>
        <p:spPr>
          <a:xfrm>
            <a:off x="7461804" y="2774981"/>
            <a:ext cx="4037283" cy="4616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files to make actions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Hình Bầu dục 27"/>
          <p:cNvSpPr/>
          <p:nvPr/>
        </p:nvSpPr>
        <p:spPr>
          <a:xfrm>
            <a:off x="3627783" y="2963823"/>
            <a:ext cx="2544418" cy="586404"/>
          </a:xfrm>
          <a:prstGeom prst="ellipse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Đường kết nối: Mũi tên Gấp khúc 30"/>
          <p:cNvCxnSpPr>
            <a:stCxn id="28" idx="6"/>
            <a:endCxn id="27" idx="1"/>
          </p:cNvCxnSpPr>
          <p:nvPr/>
        </p:nvCxnSpPr>
        <p:spPr>
          <a:xfrm flipV="1">
            <a:off x="6172201" y="3005814"/>
            <a:ext cx="1289603" cy="25121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Hình Bầu dục 34"/>
          <p:cNvSpPr/>
          <p:nvPr/>
        </p:nvSpPr>
        <p:spPr>
          <a:xfrm>
            <a:off x="2865835" y="2336891"/>
            <a:ext cx="7181798" cy="35231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Hộp Văn bản 35"/>
          <p:cNvSpPr txBox="1"/>
          <p:nvPr/>
        </p:nvSpPr>
        <p:spPr>
          <a:xfrm>
            <a:off x="7549429" y="4895050"/>
            <a:ext cx="3862032" cy="461665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that make carry out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Hình Bầu dục 36"/>
          <p:cNvSpPr/>
          <p:nvPr/>
        </p:nvSpPr>
        <p:spPr>
          <a:xfrm>
            <a:off x="2704324" y="3525117"/>
            <a:ext cx="7181798" cy="35231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Hình Bầu dục 37"/>
          <p:cNvSpPr/>
          <p:nvPr/>
        </p:nvSpPr>
        <p:spPr>
          <a:xfrm>
            <a:off x="2645957" y="4243308"/>
            <a:ext cx="3639326" cy="475884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Hình Bầu dục 38"/>
          <p:cNvSpPr/>
          <p:nvPr/>
        </p:nvSpPr>
        <p:spPr>
          <a:xfrm>
            <a:off x="2777986" y="5369926"/>
            <a:ext cx="2593233" cy="475884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Đường kết nối: Mũi tên Gấp khúc 40"/>
          <p:cNvCxnSpPr>
            <a:stCxn id="35" idx="6"/>
            <a:endCxn id="36" idx="3"/>
          </p:cNvCxnSpPr>
          <p:nvPr/>
        </p:nvCxnSpPr>
        <p:spPr>
          <a:xfrm>
            <a:off x="10047633" y="2513050"/>
            <a:ext cx="1363828" cy="2612833"/>
          </a:xfrm>
          <a:prstGeom prst="bentConnector3">
            <a:avLst>
              <a:gd name="adj1" fmla="val 132066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Đường kết nối: Mũi tên Gấp khúc 42"/>
          <p:cNvCxnSpPr>
            <a:stCxn id="37" idx="4"/>
            <a:endCxn id="36" idx="0"/>
          </p:cNvCxnSpPr>
          <p:nvPr/>
        </p:nvCxnSpPr>
        <p:spPr>
          <a:xfrm rot="16200000" flipH="1">
            <a:off x="7379026" y="2793631"/>
            <a:ext cx="1017616" cy="3185222"/>
          </a:xfrm>
          <a:prstGeom prst="bentConnector3">
            <a:avLst>
              <a:gd name="adj1" fmla="val 32419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Đường kết nối: Mũi tên Gấp khúc 46"/>
          <p:cNvCxnSpPr>
            <a:stCxn id="38" idx="4"/>
            <a:endCxn id="36" idx="1"/>
          </p:cNvCxnSpPr>
          <p:nvPr/>
        </p:nvCxnSpPr>
        <p:spPr>
          <a:xfrm rot="16200000" flipH="1">
            <a:off x="5804179" y="3380632"/>
            <a:ext cx="406691" cy="3083809"/>
          </a:xfrm>
          <a:prstGeom prst="bentConnector2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Đường kết nối: Mũi tên Gấp khúc 49"/>
          <p:cNvCxnSpPr>
            <a:stCxn id="39" idx="4"/>
            <a:endCxn id="36" idx="2"/>
          </p:cNvCxnSpPr>
          <p:nvPr/>
        </p:nvCxnSpPr>
        <p:spPr>
          <a:xfrm rot="5400000" flipH="1" flipV="1">
            <a:off x="6532976" y="2898342"/>
            <a:ext cx="489095" cy="5405842"/>
          </a:xfrm>
          <a:prstGeom prst="bentConnector3">
            <a:avLst>
              <a:gd name="adj1" fmla="val -46739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2" grpId="0" animBg="1"/>
      <p:bldP spid="13" grpId="0" animBg="1"/>
      <p:bldP spid="14" grpId="0" animBg="1"/>
      <p:bldP spid="23" grpId="0" animBg="1"/>
      <p:bldP spid="24" grpId="0" animBg="1"/>
      <p:bldP spid="27" grpId="0" animBg="1"/>
      <p:bldP spid="28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Một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Makefile</a:t>
            </a:r>
            <a:endParaRPr lang="en-US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PHONY keyword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a file has the same name with an action</a:t>
            </a: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815" y="1843043"/>
            <a:ext cx="6115050" cy="1438275"/>
          </a:xfrm>
          <a:prstGeom prst="rect">
            <a:avLst/>
          </a:prstGeom>
        </p:spPr>
      </p:pic>
      <p:sp>
        <p:nvSpPr>
          <p:cNvPr id="6" name="Hình Bầu dục 5"/>
          <p:cNvSpPr/>
          <p:nvPr/>
        </p:nvSpPr>
        <p:spPr>
          <a:xfrm>
            <a:off x="1411356" y="1859383"/>
            <a:ext cx="1202635" cy="397565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Hình ảnh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746" y="2000619"/>
            <a:ext cx="2316439" cy="1123122"/>
          </a:xfrm>
          <a:prstGeom prst="rect">
            <a:avLst/>
          </a:prstGeom>
        </p:spPr>
      </p:pic>
      <p:sp>
        <p:nvSpPr>
          <p:cNvPr id="9" name="Hộp Văn bản 8"/>
          <p:cNvSpPr txBox="1"/>
          <p:nvPr/>
        </p:nvSpPr>
        <p:spPr>
          <a:xfrm>
            <a:off x="2613992" y="3540836"/>
            <a:ext cx="682797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Action ‘build’ is not running with make command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Đường kết nối Mũi tên Thẳng 10"/>
          <p:cNvCxnSpPr>
            <a:endCxn id="9" idx="1"/>
          </p:cNvCxnSpPr>
          <p:nvPr/>
        </p:nvCxnSpPr>
        <p:spPr>
          <a:xfrm>
            <a:off x="2126974" y="3771669"/>
            <a:ext cx="48701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ộp Văn bản 14"/>
          <p:cNvSpPr txBox="1"/>
          <p:nvPr/>
        </p:nvSpPr>
        <p:spPr>
          <a:xfrm>
            <a:off x="2613991" y="4404439"/>
            <a:ext cx="6827975" cy="46166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 PHONY keyword to signal ‘build’ is a action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Hình ảnh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071" y="5268042"/>
            <a:ext cx="6985813" cy="1123121"/>
          </a:xfrm>
          <a:prstGeom prst="rect">
            <a:avLst/>
          </a:prstGeom>
        </p:spPr>
      </p:pic>
      <p:cxnSp>
        <p:nvCxnSpPr>
          <p:cNvPr id="18" name="Đường kết nối Mũi tên Thẳng 17"/>
          <p:cNvCxnSpPr>
            <a:stCxn id="15" idx="2"/>
            <a:endCxn id="17" idx="0"/>
          </p:cNvCxnSpPr>
          <p:nvPr/>
        </p:nvCxnSpPr>
        <p:spPr>
          <a:xfrm flipH="1">
            <a:off x="6027978" y="4866104"/>
            <a:ext cx="1" cy="4019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Đường kết nối Mũi tên Thẳng 20"/>
          <p:cNvCxnSpPr>
            <a:stCxn id="9" idx="2"/>
            <a:endCxn id="15" idx="0"/>
          </p:cNvCxnSpPr>
          <p:nvPr/>
        </p:nvCxnSpPr>
        <p:spPr>
          <a:xfrm flipH="1">
            <a:off x="6027979" y="4002501"/>
            <a:ext cx="1" cy="4019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in </a:t>
            </a:r>
            <a:r>
              <a:rPr lang="en-US" dirty="0" err="1"/>
              <a:t>Makefile</a:t>
            </a: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150" y="3073688"/>
            <a:ext cx="4714875" cy="933450"/>
          </a:xfrm>
          <a:prstGeom prst="rect">
            <a:avLst/>
          </a:prstGeom>
        </p:spPr>
      </p:pic>
      <p:sp>
        <p:nvSpPr>
          <p:cNvPr id="6" name="Hộp Văn bản 5"/>
          <p:cNvSpPr txBox="1"/>
          <p:nvPr/>
        </p:nvSpPr>
        <p:spPr>
          <a:xfrm>
            <a:off x="1432798" y="2904309"/>
            <a:ext cx="1401416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Variable names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Hộp Văn bản 6"/>
          <p:cNvSpPr txBox="1"/>
          <p:nvPr/>
        </p:nvSpPr>
        <p:spPr>
          <a:xfrm>
            <a:off x="9178692" y="2904309"/>
            <a:ext cx="111981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/>
          <p:cNvSpPr txBox="1"/>
          <p:nvPr/>
        </p:nvSpPr>
        <p:spPr>
          <a:xfrm>
            <a:off x="6220143" y="1952806"/>
            <a:ext cx="231250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Assign symbols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Hình Bầu dục 8"/>
          <p:cNvSpPr/>
          <p:nvPr/>
        </p:nvSpPr>
        <p:spPr>
          <a:xfrm>
            <a:off x="3899149" y="2904309"/>
            <a:ext cx="1539117" cy="12722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Đường kết nối Mũi tên Thẳng 10"/>
          <p:cNvCxnSpPr>
            <a:stCxn id="9" idx="2"/>
            <a:endCxn id="6" idx="3"/>
          </p:cNvCxnSpPr>
          <p:nvPr/>
        </p:nvCxnSpPr>
        <p:spPr>
          <a:xfrm flipH="1" flipV="1">
            <a:off x="2834214" y="3319808"/>
            <a:ext cx="1064935" cy="2206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Hình Bầu dục 11"/>
          <p:cNvSpPr/>
          <p:nvPr/>
        </p:nvSpPr>
        <p:spPr>
          <a:xfrm>
            <a:off x="5604953" y="2904309"/>
            <a:ext cx="435874" cy="12722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Đường kết nối Mũi tên Thẳng 12"/>
          <p:cNvCxnSpPr>
            <a:stCxn id="12" idx="0"/>
            <a:endCxn id="8" idx="1"/>
          </p:cNvCxnSpPr>
          <p:nvPr/>
        </p:nvCxnSpPr>
        <p:spPr>
          <a:xfrm flipV="1">
            <a:off x="5822890" y="2183639"/>
            <a:ext cx="397253" cy="7206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Hình Bầu dục 18"/>
          <p:cNvSpPr/>
          <p:nvPr/>
        </p:nvSpPr>
        <p:spPr>
          <a:xfrm>
            <a:off x="6002932" y="2923215"/>
            <a:ext cx="2777779" cy="12722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Đường kết nối Mũi tên Thẳng 19"/>
          <p:cNvCxnSpPr>
            <a:stCxn id="19" idx="6"/>
            <a:endCxn id="7" idx="1"/>
          </p:cNvCxnSpPr>
          <p:nvPr/>
        </p:nvCxnSpPr>
        <p:spPr>
          <a:xfrm flipV="1">
            <a:off x="8780711" y="3135142"/>
            <a:ext cx="397981" cy="4241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Hộp Văn bản 24"/>
          <p:cNvSpPr txBox="1"/>
          <p:nvPr/>
        </p:nvSpPr>
        <p:spPr>
          <a:xfrm>
            <a:off x="1432798" y="4476474"/>
            <a:ext cx="9528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Symbol to access the value of a variable: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$(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variable_name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Hình ảnh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400" y="5192428"/>
            <a:ext cx="5287915" cy="1171574"/>
          </a:xfrm>
          <a:prstGeom prst="rect">
            <a:avLst/>
          </a:prstGeom>
        </p:spPr>
      </p:pic>
      <p:cxnSp>
        <p:nvCxnSpPr>
          <p:cNvPr id="32" name="Đường kết nối: Cong 31"/>
          <p:cNvCxnSpPr/>
          <p:nvPr/>
        </p:nvCxnSpPr>
        <p:spPr>
          <a:xfrm flipV="1">
            <a:off x="6196955" y="5441038"/>
            <a:ext cx="2186609" cy="556876"/>
          </a:xfrm>
          <a:prstGeom prst="curvedConnector3">
            <a:avLst>
              <a:gd name="adj1" fmla="val 13954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Hộp Văn bản 42"/>
          <p:cNvSpPr txBox="1"/>
          <p:nvPr/>
        </p:nvSpPr>
        <p:spPr>
          <a:xfrm>
            <a:off x="838199" y="1245849"/>
            <a:ext cx="98264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to generalize </a:t>
            </a:r>
            <a:r>
              <a:rPr lang="en-US" sz="2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makefile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avoid using specific names of files </a:t>
            </a:r>
            <a:endParaRPr lang="en-US" sz="24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value of variables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Printing value of variables to check, debugger when working with </a:t>
            </a:r>
            <a:r>
              <a:rPr lang="en-US" dirty="0" err="1"/>
              <a:t>makefile</a:t>
            </a:r>
            <a:r>
              <a:rPr lang="en-US" dirty="0"/>
              <a:t>		</a:t>
            </a:r>
            <a:r>
              <a:rPr lang="en-US" dirty="0">
                <a:sym typeface="Wingdings" panose="05000000000000000000" pitchFamily="2" charset="2"/>
              </a:rPr>
              <a:t> Use </a:t>
            </a:r>
            <a:r>
              <a:rPr lang="en-US" sz="3000" b="1" dirty="0">
                <a:sym typeface="Wingdings" panose="05000000000000000000" pitchFamily="2" charset="2"/>
              </a:rPr>
              <a:t>‘echo’ </a:t>
            </a:r>
            <a:r>
              <a:rPr lang="en-US" dirty="0">
                <a:sym typeface="Wingdings" panose="05000000000000000000" pitchFamily="2" charset="2"/>
              </a:rPr>
              <a:t>command &amp; string substitution</a:t>
            </a: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4053" y="2415209"/>
            <a:ext cx="6983894" cy="1013791"/>
          </a:xfrm>
          <a:prstGeom prst="rect">
            <a:avLst/>
          </a:prstGeom>
        </p:spPr>
      </p:pic>
      <p:cxnSp>
        <p:nvCxnSpPr>
          <p:cNvPr id="7" name="Đường kết nối Mũi tên Thẳng 6"/>
          <p:cNvCxnSpPr>
            <a:stCxn id="5" idx="2"/>
            <a:endCxn id="10" idx="0"/>
          </p:cNvCxnSpPr>
          <p:nvPr/>
        </p:nvCxnSpPr>
        <p:spPr>
          <a:xfrm>
            <a:off x="6096000" y="3429000"/>
            <a:ext cx="0" cy="8571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Hộp Văn bản 7"/>
          <p:cNvSpPr txBox="1"/>
          <p:nvPr/>
        </p:nvSpPr>
        <p:spPr>
          <a:xfrm>
            <a:off x="6095999" y="3595982"/>
            <a:ext cx="1358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Results</a:t>
            </a:r>
            <a:endParaRPr lang="en-US" sz="2800" dirty="0"/>
          </a:p>
        </p:txBody>
      </p:sp>
      <p:pic>
        <p:nvPicPr>
          <p:cNvPr id="10" name="Hình ảnh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643" y="4286185"/>
            <a:ext cx="5700713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makefile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br>
              <a:rPr lang="en-US" dirty="0"/>
            </a:br>
            <a:r>
              <a:rPr lang="en-US" dirty="0">
                <a:hlinkClick r:id="rId1"/>
              </a:rPr>
              <a:t>https://www.gnu.org/software/make/manual/make.html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Chương trình </a:t>
            </a:r>
            <a:br>
              <a:rPr lang="en-US" dirty="0"/>
            </a:br>
            <a:r>
              <a:rPr lang="en-US" dirty="0"/>
              <a:t>Makefile - Vi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Makefile </a:t>
            </a:r>
            <a:r>
              <a:rPr lang="en-US" sz="2800" dirty="0" err="1"/>
              <a:t>với</a:t>
            </a:r>
            <a:r>
              <a:rPr lang="en-US" sz="2800" dirty="0"/>
              <a:t> Vi </a:t>
            </a:r>
            <a:r>
              <a:rPr lang="en-US" sz="2800" dirty="0" err="1"/>
              <a:t>điều</a:t>
            </a:r>
            <a:r>
              <a:rPr lang="en-US" sz="2800" dirty="0"/>
              <a:t> </a:t>
            </a:r>
            <a:r>
              <a:rPr lang="en-US" sz="2800" dirty="0" err="1"/>
              <a:t>khiển</a:t>
            </a:r>
            <a:endParaRPr lang="en-US" sz="2800" dirty="0"/>
          </a:p>
          <a:p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hành</a:t>
            </a:r>
            <a:r>
              <a:rPr lang="en-US" sz="2800" dirty="0"/>
              <a:t> viết Makefile </a:t>
            </a:r>
            <a:r>
              <a:rPr lang="en-US" sz="2800" dirty="0" err="1"/>
              <a:t>với</a:t>
            </a:r>
            <a:r>
              <a:rPr lang="en-US" sz="2800" dirty="0"/>
              <a:t> Chương trình Vi </a:t>
            </a:r>
            <a:r>
              <a:rPr lang="en-US" sz="2800" dirty="0" err="1"/>
              <a:t>điều</a:t>
            </a:r>
            <a:r>
              <a:rPr lang="en-US" sz="2800" dirty="0"/>
              <a:t> </a:t>
            </a:r>
            <a:r>
              <a:rPr lang="en-US" sz="2800" dirty="0" err="1"/>
              <a:t>khiển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Cài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Toolchain – GCC for ARM</a:t>
            </a:r>
            <a:br>
              <a:rPr lang="en-US" dirty="0"/>
            </a:br>
            <a:r>
              <a:rPr lang="en-US" dirty="0">
                <a:hlinkClick r:id="rId1"/>
              </a:rPr>
              <a:t>https://developer.arm.com/tools-and-software/open-source-software/developer-tools/gnu-toolchain/gnu-rm/downloads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code STM32 ST-LINK Utility</a:t>
            </a:r>
            <a:br>
              <a:rPr lang="en-US" dirty="0"/>
            </a:br>
            <a:r>
              <a:rPr lang="en-US" dirty="0">
                <a:hlinkClick r:id="rId2"/>
              </a:rPr>
              <a:t>https://www.st.com/en/development-tools/stsw-link004.html</a:t>
            </a:r>
            <a:endParaRPr lang="en-US" dirty="0"/>
          </a:p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br>
              <a:rPr lang="en-US" dirty="0"/>
            </a:br>
            <a:r>
              <a:rPr lang="en-US" dirty="0">
                <a:hlinkClick r:id="rId3"/>
              </a:rPr>
              <a:t>https://www.gnu.org/software/make/manual/make.html</a:t>
            </a:r>
            <a:endParaRPr lang="en-US" dirty="0"/>
          </a:p>
          <a:p>
            <a:r>
              <a:rPr lang="en-US" dirty="0"/>
              <a:t>Source Code</a:t>
            </a:r>
            <a:br>
              <a:rPr lang="en-US" dirty="0"/>
            </a:br>
            <a:r>
              <a:rPr lang="en-US" dirty="0">
                <a:hlinkClick r:id="rId4"/>
              </a:rPr>
              <a:t>https://github.com/nghia12a1-t-ara/makefile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Viết Makefile </a:t>
            </a:r>
            <a:r>
              <a:rPr lang="en-US" dirty="0" err="1"/>
              <a:t>cho</a:t>
            </a:r>
            <a:r>
              <a:rPr lang="en-US" dirty="0"/>
              <a:t> Chương trình Vi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  <a:endParaRPr lang="en-US" dirty="0"/>
          </a:p>
          <a:p>
            <a:pPr lvl="1"/>
            <a:r>
              <a:rPr lang="en-US" dirty="0"/>
              <a:t>Blink LED GPIO</a:t>
            </a:r>
            <a:endParaRPr lang="en-US" dirty="0"/>
          </a:p>
          <a:p>
            <a:pPr lvl="2"/>
            <a:r>
              <a:rPr lang="en-US" dirty="0"/>
              <a:t>Source Code (</a:t>
            </a:r>
            <a:r>
              <a:rPr lang="en-US" dirty="0" err="1"/>
              <a:t>GPIO.c</a:t>
            </a:r>
            <a:r>
              <a:rPr lang="en-US" dirty="0"/>
              <a:t> / </a:t>
            </a:r>
            <a:r>
              <a:rPr lang="en-US" dirty="0" err="1"/>
              <a:t>GPIO.h</a:t>
            </a:r>
            <a:r>
              <a:rPr lang="en-US" dirty="0"/>
              <a:t> / </a:t>
            </a:r>
            <a:r>
              <a:rPr lang="en-US" dirty="0" err="1"/>
              <a:t>main.c</a:t>
            </a:r>
            <a:r>
              <a:rPr lang="en-US" dirty="0"/>
              <a:t>)</a:t>
            </a:r>
            <a:endParaRPr lang="en-US" dirty="0"/>
          </a:p>
          <a:p>
            <a:pPr lvl="2"/>
            <a:r>
              <a:rPr lang="en-US" dirty="0"/>
              <a:t>Startup File, Linker File –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cấp</a:t>
            </a:r>
            <a:endParaRPr lang="en-US" dirty="0"/>
          </a:p>
          <a:p>
            <a:pPr lvl="1"/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hỗ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code</a:t>
            </a:r>
            <a:endParaRPr lang="en-US" dirty="0"/>
          </a:p>
          <a:p>
            <a:pPr lvl="2"/>
            <a:r>
              <a:rPr lang="en-US" dirty="0"/>
              <a:t>STM32 ST-LINK Utility</a:t>
            </a:r>
            <a:endParaRPr lang="en-US" dirty="0"/>
          </a:p>
          <a:p>
            <a:pPr lvl="1"/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: STM32 (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STM32F401 – NUCLEO Board)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Process</a:t>
            </a:r>
            <a:endParaRPr lang="en-US" dirty="0"/>
          </a:p>
        </p:txBody>
      </p:sp>
      <p:sp>
        <p:nvSpPr>
          <p:cNvPr id="5" name="Hình chữ nhật 4"/>
          <p:cNvSpPr/>
          <p:nvPr/>
        </p:nvSpPr>
        <p:spPr>
          <a:xfrm>
            <a:off x="2638450" y="2864873"/>
            <a:ext cx="2084774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preprocessor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ình chữ nhật: Cắt Một Góc 5"/>
          <p:cNvSpPr/>
          <p:nvPr/>
        </p:nvSpPr>
        <p:spPr>
          <a:xfrm>
            <a:off x="838503" y="2761115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.c .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.h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/>
          <p:cNvSpPr txBox="1"/>
          <p:nvPr/>
        </p:nvSpPr>
        <p:spPr>
          <a:xfrm>
            <a:off x="6011966" y="5788113"/>
            <a:ext cx="11378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Object files</a:t>
            </a:r>
            <a:endParaRPr lang="en-US" sz="2200" dirty="0"/>
          </a:p>
        </p:txBody>
      </p:sp>
      <p:sp>
        <p:nvSpPr>
          <p:cNvPr id="9" name="Hình chữ nhật 8"/>
          <p:cNvSpPr/>
          <p:nvPr/>
        </p:nvSpPr>
        <p:spPr>
          <a:xfrm>
            <a:off x="5864005" y="2864873"/>
            <a:ext cx="1433744" cy="749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Hình chữ nhật 9"/>
          <p:cNvSpPr/>
          <p:nvPr/>
        </p:nvSpPr>
        <p:spPr>
          <a:xfrm>
            <a:off x="7753470" y="2867812"/>
            <a:ext cx="3005091" cy="7440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generator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Hình chữ nhật 11"/>
          <p:cNvSpPr/>
          <p:nvPr/>
        </p:nvSpPr>
        <p:spPr>
          <a:xfrm>
            <a:off x="2638451" y="4929835"/>
            <a:ext cx="2084773" cy="749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Assembler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Hình chữ nhật: Cắt Một Góc 12"/>
          <p:cNvSpPr/>
          <p:nvPr/>
        </p:nvSpPr>
        <p:spPr>
          <a:xfrm>
            <a:off x="4559726" y="1428173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Hình chữ nhật: Cắt Một Góc 13"/>
          <p:cNvSpPr/>
          <p:nvPr/>
        </p:nvSpPr>
        <p:spPr>
          <a:xfrm>
            <a:off x="10527000" y="1428173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Hình chữ nhật: Cắt Một Góc 14"/>
          <p:cNvSpPr/>
          <p:nvPr/>
        </p:nvSpPr>
        <p:spPr>
          <a:xfrm>
            <a:off x="6202836" y="4821462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Đường kết nối Mũi tên Thẳng 16"/>
          <p:cNvCxnSpPr>
            <a:stCxn id="6" idx="0"/>
            <a:endCxn id="5" idx="1"/>
          </p:cNvCxnSpPr>
          <p:nvPr/>
        </p:nvCxnSpPr>
        <p:spPr>
          <a:xfrm flipV="1">
            <a:off x="1624917" y="3239828"/>
            <a:ext cx="1013533" cy="4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Đường kết nối Mũi tên Thẳng 17"/>
          <p:cNvCxnSpPr>
            <a:stCxn id="5" idx="3"/>
            <a:endCxn id="9" idx="1"/>
          </p:cNvCxnSpPr>
          <p:nvPr/>
        </p:nvCxnSpPr>
        <p:spPr>
          <a:xfrm flipV="1">
            <a:off x="4723224" y="3239827"/>
            <a:ext cx="114078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Đường kết nối Mũi tên Thẳng 20"/>
          <p:cNvCxnSpPr>
            <a:stCxn id="9" idx="3"/>
            <a:endCxn id="10" idx="1"/>
          </p:cNvCxnSpPr>
          <p:nvPr/>
        </p:nvCxnSpPr>
        <p:spPr>
          <a:xfrm flipV="1">
            <a:off x="7297749" y="3239826"/>
            <a:ext cx="45572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/>
          <p:cNvCxnSpPr>
            <a:stCxn id="12" idx="3"/>
            <a:endCxn id="15" idx="2"/>
          </p:cNvCxnSpPr>
          <p:nvPr/>
        </p:nvCxnSpPr>
        <p:spPr>
          <a:xfrm flipV="1">
            <a:off x="4723224" y="5304788"/>
            <a:ext cx="147961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Đường kết nối: Mũi tên Gấp khúc 28"/>
          <p:cNvCxnSpPr>
            <a:stCxn id="10" idx="3"/>
            <a:endCxn id="12" idx="1"/>
          </p:cNvCxnSpPr>
          <p:nvPr/>
        </p:nvCxnSpPr>
        <p:spPr>
          <a:xfrm flipH="1">
            <a:off x="2638451" y="3239826"/>
            <a:ext cx="8120110" cy="2064963"/>
          </a:xfrm>
          <a:prstGeom prst="bentConnector5">
            <a:avLst>
              <a:gd name="adj1" fmla="val -2815"/>
              <a:gd name="adj2" fmla="val 49929"/>
              <a:gd name="adj3" fmla="val 10281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Đường kết nối Mũi tên Thẳng 30"/>
          <p:cNvCxnSpPr>
            <a:endCxn id="13" idx="1"/>
          </p:cNvCxnSpPr>
          <p:nvPr/>
        </p:nvCxnSpPr>
        <p:spPr>
          <a:xfrm flipH="1" flipV="1">
            <a:off x="4952933" y="2394824"/>
            <a:ext cx="340681" cy="845002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Đường kết nối Mũi tên Thẳng 31"/>
          <p:cNvCxnSpPr>
            <a:endCxn id="14" idx="1"/>
          </p:cNvCxnSpPr>
          <p:nvPr/>
        </p:nvCxnSpPr>
        <p:spPr>
          <a:xfrm flipH="1" flipV="1">
            <a:off x="10920207" y="2394824"/>
            <a:ext cx="70652" cy="845001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Hộp Văn bản 34"/>
          <p:cNvSpPr txBox="1"/>
          <p:nvPr/>
        </p:nvSpPr>
        <p:spPr>
          <a:xfrm>
            <a:off x="6989250" y="4750792"/>
            <a:ext cx="45231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Processor architecture specific machine codes with no absolute address (relocatable file)</a:t>
            </a:r>
            <a:endParaRPr lang="en-US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Hộp Văn bản 35"/>
          <p:cNvSpPr txBox="1"/>
          <p:nvPr/>
        </p:nvSpPr>
        <p:spPr>
          <a:xfrm>
            <a:off x="5346140" y="1530709"/>
            <a:ext cx="15166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Extended files</a:t>
            </a:r>
            <a:endParaRPr lang="en-US" sz="2200" dirty="0"/>
          </a:p>
        </p:txBody>
      </p:sp>
      <p:sp>
        <p:nvSpPr>
          <p:cNvPr id="37" name="Hộp Văn bản 36"/>
          <p:cNvSpPr txBox="1"/>
          <p:nvPr/>
        </p:nvSpPr>
        <p:spPr>
          <a:xfrm>
            <a:off x="9008914" y="1566631"/>
            <a:ext cx="1518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Assembly files</a:t>
            </a:r>
            <a:endParaRPr lang="en-US" sz="2200" dirty="0"/>
          </a:p>
        </p:txBody>
      </p:sp>
      <p:sp>
        <p:nvSpPr>
          <p:cNvPr id="38" name="Hộp Văn bản 37"/>
          <p:cNvSpPr txBox="1"/>
          <p:nvPr/>
        </p:nvSpPr>
        <p:spPr>
          <a:xfrm>
            <a:off x="662799" y="1987062"/>
            <a:ext cx="11378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Source files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Process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Bài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toán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ình chữ nhật 3"/>
          <p:cNvSpPr/>
          <p:nvPr/>
        </p:nvSpPr>
        <p:spPr>
          <a:xfrm>
            <a:off x="1526794" y="1745778"/>
            <a:ext cx="1645614" cy="7499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main.c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Đường kết nối Mũi tên Thẳng 4"/>
          <p:cNvCxnSpPr>
            <a:stCxn id="11" idx="3"/>
            <a:endCxn id="13" idx="1"/>
          </p:cNvCxnSpPr>
          <p:nvPr/>
        </p:nvCxnSpPr>
        <p:spPr>
          <a:xfrm flipV="1">
            <a:off x="5685452" y="2870641"/>
            <a:ext cx="110101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Hình chữ nhật 6"/>
          <p:cNvSpPr/>
          <p:nvPr/>
        </p:nvSpPr>
        <p:spPr>
          <a:xfrm>
            <a:off x="1526794" y="3263221"/>
            <a:ext cx="1645614" cy="7499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GPIO.h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Đường kết nối Mũi tên Thẳng 7"/>
          <p:cNvCxnSpPr>
            <a:stCxn id="4" idx="3"/>
            <a:endCxn id="11" idx="1"/>
          </p:cNvCxnSpPr>
          <p:nvPr/>
        </p:nvCxnSpPr>
        <p:spPr>
          <a:xfrm>
            <a:off x="3172408" y="2120733"/>
            <a:ext cx="867430" cy="7499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Hình chữ nhật 8"/>
          <p:cNvSpPr/>
          <p:nvPr/>
        </p:nvSpPr>
        <p:spPr>
          <a:xfrm>
            <a:off x="1526794" y="4659146"/>
            <a:ext cx="1645614" cy="7499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GPIO.c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Đường kết nối Mũi tên Thẳng 9"/>
          <p:cNvCxnSpPr>
            <a:stCxn id="12" idx="3"/>
            <a:endCxn id="14" idx="1"/>
          </p:cNvCxnSpPr>
          <p:nvPr/>
        </p:nvCxnSpPr>
        <p:spPr>
          <a:xfrm>
            <a:off x="5685452" y="4388085"/>
            <a:ext cx="11010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ình chữ nhật 10"/>
          <p:cNvSpPr/>
          <p:nvPr/>
        </p:nvSpPr>
        <p:spPr>
          <a:xfrm>
            <a:off x="4039838" y="2495687"/>
            <a:ext cx="1645614" cy="7499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main.i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Hình chữ nhật 11"/>
          <p:cNvSpPr/>
          <p:nvPr/>
        </p:nvSpPr>
        <p:spPr>
          <a:xfrm>
            <a:off x="4039838" y="4013130"/>
            <a:ext cx="1645614" cy="7499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GPIO.i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Hình chữ nhật 12"/>
          <p:cNvSpPr/>
          <p:nvPr/>
        </p:nvSpPr>
        <p:spPr>
          <a:xfrm>
            <a:off x="6786464" y="2495686"/>
            <a:ext cx="1645614" cy="7499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main.s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Hình chữ nhật 13"/>
          <p:cNvSpPr/>
          <p:nvPr/>
        </p:nvSpPr>
        <p:spPr>
          <a:xfrm>
            <a:off x="6786464" y="4013130"/>
            <a:ext cx="1645614" cy="7499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GPIO.s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Hình chữ nhật 14"/>
          <p:cNvSpPr/>
          <p:nvPr/>
        </p:nvSpPr>
        <p:spPr>
          <a:xfrm>
            <a:off x="6786464" y="5409055"/>
            <a:ext cx="1645614" cy="7499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startup.s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Hình chữ nhật 15"/>
          <p:cNvSpPr/>
          <p:nvPr/>
        </p:nvSpPr>
        <p:spPr>
          <a:xfrm>
            <a:off x="9383326" y="2495687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main.o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Hình chữ nhật 16"/>
          <p:cNvSpPr/>
          <p:nvPr/>
        </p:nvSpPr>
        <p:spPr>
          <a:xfrm>
            <a:off x="9383326" y="4013129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GPIO.o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Hình chữ nhật 17"/>
          <p:cNvSpPr/>
          <p:nvPr/>
        </p:nvSpPr>
        <p:spPr>
          <a:xfrm>
            <a:off x="9383326" y="5411770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startup.o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Đường kết nối Mũi tên Thẳng 20"/>
          <p:cNvCxnSpPr>
            <a:stCxn id="7" idx="3"/>
            <a:endCxn id="12" idx="1"/>
          </p:cNvCxnSpPr>
          <p:nvPr/>
        </p:nvCxnSpPr>
        <p:spPr>
          <a:xfrm>
            <a:off x="3172408" y="3638176"/>
            <a:ext cx="867430" cy="7499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Đường kết nối Mũi tên Thẳng 21"/>
          <p:cNvCxnSpPr>
            <a:stCxn id="9" idx="3"/>
            <a:endCxn id="12" idx="1"/>
          </p:cNvCxnSpPr>
          <p:nvPr/>
        </p:nvCxnSpPr>
        <p:spPr>
          <a:xfrm flipV="1">
            <a:off x="3172408" y="4388085"/>
            <a:ext cx="867430" cy="646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Đường kết nối Mũi tên Thẳng 22"/>
          <p:cNvCxnSpPr>
            <a:stCxn id="13" idx="3"/>
            <a:endCxn id="16" idx="1"/>
          </p:cNvCxnSpPr>
          <p:nvPr/>
        </p:nvCxnSpPr>
        <p:spPr>
          <a:xfrm>
            <a:off x="8432078" y="2870641"/>
            <a:ext cx="95124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Đường kết nối Mũi tên Thẳng 23"/>
          <p:cNvCxnSpPr>
            <a:stCxn id="15" idx="3"/>
            <a:endCxn id="18" idx="1"/>
          </p:cNvCxnSpPr>
          <p:nvPr/>
        </p:nvCxnSpPr>
        <p:spPr>
          <a:xfrm>
            <a:off x="8432078" y="5784010"/>
            <a:ext cx="951248" cy="2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/>
          <p:cNvCxnSpPr>
            <a:stCxn id="14" idx="3"/>
            <a:endCxn id="17" idx="1"/>
          </p:cNvCxnSpPr>
          <p:nvPr/>
        </p:nvCxnSpPr>
        <p:spPr>
          <a:xfrm flipV="1">
            <a:off x="8432078" y="4388084"/>
            <a:ext cx="95124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Đường kết nối Mũi tên Thẳng 40"/>
          <p:cNvCxnSpPr>
            <a:stCxn id="7" idx="3"/>
            <a:endCxn id="11" idx="1"/>
          </p:cNvCxnSpPr>
          <p:nvPr/>
        </p:nvCxnSpPr>
        <p:spPr>
          <a:xfrm flipV="1">
            <a:off x="3172408" y="2870642"/>
            <a:ext cx="867430" cy="7675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Process</a:t>
            </a:r>
            <a:endParaRPr lang="en-US" dirty="0"/>
          </a:p>
        </p:txBody>
      </p:sp>
      <p:sp>
        <p:nvSpPr>
          <p:cNvPr id="4" name="Hình chữ nhật 3"/>
          <p:cNvSpPr/>
          <p:nvPr/>
        </p:nvSpPr>
        <p:spPr>
          <a:xfrm>
            <a:off x="2878400" y="2401958"/>
            <a:ext cx="1564133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chữ nhật: Cắt Một Góc 4"/>
          <p:cNvSpPr/>
          <p:nvPr/>
        </p:nvSpPr>
        <p:spPr>
          <a:xfrm>
            <a:off x="1410440" y="2298200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.o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Đường kết nối Mũi tên Thẳng 5"/>
          <p:cNvCxnSpPr>
            <a:stCxn id="5" idx="0"/>
            <a:endCxn id="4" idx="1"/>
          </p:cNvCxnSpPr>
          <p:nvPr/>
        </p:nvCxnSpPr>
        <p:spPr>
          <a:xfrm flipV="1">
            <a:off x="2196854" y="2776913"/>
            <a:ext cx="681546" cy="4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Hộp Văn bản 6"/>
          <p:cNvSpPr txBox="1"/>
          <p:nvPr/>
        </p:nvSpPr>
        <p:spPr>
          <a:xfrm>
            <a:off x="838200" y="1524145"/>
            <a:ext cx="19308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Re-locatable object files</a:t>
            </a:r>
            <a:endParaRPr lang="en-US" sz="2200" dirty="0"/>
          </a:p>
        </p:txBody>
      </p:sp>
      <p:sp>
        <p:nvSpPr>
          <p:cNvPr id="9" name="Hình chữ nhật: Cắt Một Góc 8"/>
          <p:cNvSpPr/>
          <p:nvPr/>
        </p:nvSpPr>
        <p:spPr>
          <a:xfrm>
            <a:off x="3267259" y="4103876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Hộp Văn bản 9"/>
          <p:cNvSpPr txBox="1"/>
          <p:nvPr/>
        </p:nvSpPr>
        <p:spPr>
          <a:xfrm>
            <a:off x="2942669" y="5075016"/>
            <a:ext cx="14355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Static Libraries</a:t>
            </a:r>
            <a:endParaRPr lang="en-US" sz="2200" dirty="0"/>
          </a:p>
        </p:txBody>
      </p:sp>
      <p:sp>
        <p:nvSpPr>
          <p:cNvPr id="11" name="Hình chữ nhật: Cắt Một Góc 10"/>
          <p:cNvSpPr/>
          <p:nvPr/>
        </p:nvSpPr>
        <p:spPr>
          <a:xfrm>
            <a:off x="7361165" y="2298200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.elf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Hộp Văn bản 11"/>
          <p:cNvSpPr txBox="1"/>
          <p:nvPr/>
        </p:nvSpPr>
        <p:spPr>
          <a:xfrm>
            <a:off x="6820551" y="1528761"/>
            <a:ext cx="186764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Executable  &amp; debug file</a:t>
            </a:r>
            <a:endParaRPr lang="en-US" sz="2200" dirty="0"/>
          </a:p>
        </p:txBody>
      </p:sp>
      <p:sp>
        <p:nvSpPr>
          <p:cNvPr id="13" name="Hình chữ nhật 12"/>
          <p:cNvSpPr/>
          <p:nvPr/>
        </p:nvSpPr>
        <p:spPr>
          <a:xfrm>
            <a:off x="9002699" y="2406572"/>
            <a:ext cx="2084774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Objcopy</a:t>
            </a: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Đường kết nối Mũi tên Thẳng 13"/>
          <p:cNvCxnSpPr>
            <a:stCxn id="9" idx="3"/>
            <a:endCxn id="4" idx="2"/>
          </p:cNvCxnSpPr>
          <p:nvPr/>
        </p:nvCxnSpPr>
        <p:spPr>
          <a:xfrm flipV="1">
            <a:off x="3660466" y="3151867"/>
            <a:ext cx="1" cy="952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Đường kết nối Mũi tên Thẳng 16"/>
          <p:cNvCxnSpPr>
            <a:stCxn id="4" idx="3"/>
            <a:endCxn id="27" idx="1"/>
          </p:cNvCxnSpPr>
          <p:nvPr/>
        </p:nvCxnSpPr>
        <p:spPr>
          <a:xfrm>
            <a:off x="4442533" y="2776913"/>
            <a:ext cx="6729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/>
          <p:cNvCxnSpPr>
            <a:stCxn id="11" idx="0"/>
            <a:endCxn id="13" idx="1"/>
          </p:cNvCxnSpPr>
          <p:nvPr/>
        </p:nvCxnSpPr>
        <p:spPr>
          <a:xfrm>
            <a:off x="8147579" y="2781526"/>
            <a:ext cx="85512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Hình chữ nhật: Cắt Một Góc 23"/>
          <p:cNvSpPr/>
          <p:nvPr/>
        </p:nvSpPr>
        <p:spPr>
          <a:xfrm>
            <a:off x="8609492" y="4289500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ihex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Hình chữ nhật: Cắt Một Góc 24"/>
          <p:cNvSpPr/>
          <p:nvPr/>
        </p:nvSpPr>
        <p:spPr>
          <a:xfrm>
            <a:off x="10301059" y="4301120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.bin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Đường kết nối Mũi tên Thẳng 25"/>
          <p:cNvCxnSpPr>
            <a:stCxn id="13" idx="2"/>
            <a:endCxn id="24" idx="3"/>
          </p:cNvCxnSpPr>
          <p:nvPr/>
        </p:nvCxnSpPr>
        <p:spPr>
          <a:xfrm flipH="1">
            <a:off x="9002699" y="3156481"/>
            <a:ext cx="1042387" cy="11330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Đường kết nối Mũi tên Thẳng 28"/>
          <p:cNvCxnSpPr>
            <a:stCxn id="13" idx="2"/>
            <a:endCxn id="25" idx="3"/>
          </p:cNvCxnSpPr>
          <p:nvPr/>
        </p:nvCxnSpPr>
        <p:spPr>
          <a:xfrm>
            <a:off x="10045086" y="3156481"/>
            <a:ext cx="649180" cy="11446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Hộp Văn bản 31"/>
          <p:cNvSpPr txBox="1"/>
          <p:nvPr/>
        </p:nvSpPr>
        <p:spPr>
          <a:xfrm>
            <a:off x="8284902" y="5256151"/>
            <a:ext cx="14355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Intel hex format </a:t>
            </a:r>
            <a:endParaRPr lang="en-US" sz="2200" dirty="0"/>
          </a:p>
        </p:txBody>
      </p:sp>
      <p:sp>
        <p:nvSpPr>
          <p:cNvPr id="33" name="Hộp Văn bản 32"/>
          <p:cNvSpPr txBox="1"/>
          <p:nvPr/>
        </p:nvSpPr>
        <p:spPr>
          <a:xfrm>
            <a:off x="10112872" y="5266468"/>
            <a:ext cx="11627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Bin format</a:t>
            </a:r>
            <a:endParaRPr lang="en-US" sz="2200" dirty="0"/>
          </a:p>
        </p:txBody>
      </p:sp>
      <p:sp>
        <p:nvSpPr>
          <p:cNvPr id="27" name="Hình chữ nhật 26"/>
          <p:cNvSpPr/>
          <p:nvPr/>
        </p:nvSpPr>
        <p:spPr>
          <a:xfrm>
            <a:off x="5115486" y="2401958"/>
            <a:ext cx="1564133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Locator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Đường kết nối Mũi tên Thẳng 33"/>
          <p:cNvCxnSpPr>
            <a:stCxn id="27" idx="3"/>
            <a:endCxn id="11" idx="2"/>
          </p:cNvCxnSpPr>
          <p:nvPr/>
        </p:nvCxnSpPr>
        <p:spPr>
          <a:xfrm>
            <a:off x="6679619" y="2776913"/>
            <a:ext cx="681546" cy="46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Hộp Văn bản 36"/>
          <p:cNvSpPr txBox="1"/>
          <p:nvPr/>
        </p:nvSpPr>
        <p:spPr>
          <a:xfrm>
            <a:off x="5197132" y="5070526"/>
            <a:ext cx="14355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Linker script</a:t>
            </a:r>
            <a:endParaRPr lang="en-US" sz="2200" dirty="0"/>
          </a:p>
        </p:txBody>
      </p:sp>
      <p:sp>
        <p:nvSpPr>
          <p:cNvPr id="38" name="Hình chữ nhật: Cắt Một Góc 37"/>
          <p:cNvSpPr/>
          <p:nvPr/>
        </p:nvSpPr>
        <p:spPr>
          <a:xfrm>
            <a:off x="5521722" y="4103876"/>
            <a:ext cx="786414" cy="966651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Đường kết nối Mũi tên Thẳng 39"/>
          <p:cNvCxnSpPr>
            <a:stCxn id="38" idx="3"/>
            <a:endCxn id="27" idx="2"/>
          </p:cNvCxnSpPr>
          <p:nvPr/>
        </p:nvCxnSpPr>
        <p:spPr>
          <a:xfrm flipH="1" flipV="1">
            <a:off x="5897553" y="3151867"/>
            <a:ext cx="17376" cy="952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Hình chữ nhật 42"/>
          <p:cNvSpPr/>
          <p:nvPr/>
        </p:nvSpPr>
        <p:spPr>
          <a:xfrm>
            <a:off x="2672179" y="1933038"/>
            <a:ext cx="4148372" cy="170381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Process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Bài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toán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Hình chữ nhật 15"/>
          <p:cNvSpPr/>
          <p:nvPr/>
        </p:nvSpPr>
        <p:spPr>
          <a:xfrm>
            <a:off x="838200" y="1941100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main.o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Hình chữ nhật 16"/>
          <p:cNvSpPr/>
          <p:nvPr/>
        </p:nvSpPr>
        <p:spPr>
          <a:xfrm>
            <a:off x="838200" y="3458542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GPIO.o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Hình chữ nhật 17"/>
          <p:cNvSpPr/>
          <p:nvPr/>
        </p:nvSpPr>
        <p:spPr>
          <a:xfrm>
            <a:off x="838200" y="4857183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startup.o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Đường kết nối Mũi tên Thẳng 22"/>
          <p:cNvCxnSpPr>
            <a:stCxn id="26" idx="3"/>
            <a:endCxn id="28" idx="1"/>
          </p:cNvCxnSpPr>
          <p:nvPr/>
        </p:nvCxnSpPr>
        <p:spPr>
          <a:xfrm>
            <a:off x="4670424" y="3833497"/>
            <a:ext cx="6729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Đường kết nối Mũi tên Thẳng 23"/>
          <p:cNvCxnSpPr>
            <a:stCxn id="18" idx="3"/>
            <a:endCxn id="26" idx="1"/>
          </p:cNvCxnSpPr>
          <p:nvPr/>
        </p:nvCxnSpPr>
        <p:spPr>
          <a:xfrm flipV="1">
            <a:off x="2483814" y="3833497"/>
            <a:ext cx="622477" cy="13986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Hình chữ nhật 25"/>
          <p:cNvSpPr/>
          <p:nvPr/>
        </p:nvSpPr>
        <p:spPr>
          <a:xfrm>
            <a:off x="3106291" y="3458542"/>
            <a:ext cx="1564133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Đường kết nối Mũi tên Thẳng 26"/>
          <p:cNvCxnSpPr>
            <a:stCxn id="16" idx="3"/>
            <a:endCxn id="26" idx="1"/>
          </p:cNvCxnSpPr>
          <p:nvPr/>
        </p:nvCxnSpPr>
        <p:spPr>
          <a:xfrm>
            <a:off x="2483814" y="2316055"/>
            <a:ext cx="622477" cy="15174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Hình chữ nhật 27"/>
          <p:cNvSpPr/>
          <p:nvPr/>
        </p:nvSpPr>
        <p:spPr>
          <a:xfrm>
            <a:off x="5343377" y="3458542"/>
            <a:ext cx="1564133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Locator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Đường kết nối Mũi tên Thẳng 28"/>
          <p:cNvCxnSpPr>
            <a:stCxn id="28" idx="3"/>
            <a:endCxn id="52" idx="1"/>
          </p:cNvCxnSpPr>
          <p:nvPr/>
        </p:nvCxnSpPr>
        <p:spPr>
          <a:xfrm flipV="1">
            <a:off x="6907510" y="3833496"/>
            <a:ext cx="65645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Đường kết nối Mũi tên Thẳng 29"/>
          <p:cNvCxnSpPr>
            <a:stCxn id="44" idx="0"/>
            <a:endCxn id="28" idx="2"/>
          </p:cNvCxnSpPr>
          <p:nvPr/>
        </p:nvCxnSpPr>
        <p:spPr>
          <a:xfrm flipH="1" flipV="1">
            <a:off x="6125444" y="4208451"/>
            <a:ext cx="17376" cy="9672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Hình chữ nhật 30"/>
          <p:cNvSpPr/>
          <p:nvPr/>
        </p:nvSpPr>
        <p:spPr>
          <a:xfrm>
            <a:off x="2900070" y="2989622"/>
            <a:ext cx="4148372" cy="170381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Đường kết nối Mũi tên Thẳng 39"/>
          <p:cNvCxnSpPr>
            <a:stCxn id="17" idx="3"/>
            <a:endCxn id="26" idx="1"/>
          </p:cNvCxnSpPr>
          <p:nvPr/>
        </p:nvCxnSpPr>
        <p:spPr>
          <a:xfrm>
            <a:off x="2483814" y="3833497"/>
            <a:ext cx="6224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Hình chữ nhật 43"/>
          <p:cNvSpPr/>
          <p:nvPr/>
        </p:nvSpPr>
        <p:spPr>
          <a:xfrm>
            <a:off x="5320013" y="5175668"/>
            <a:ext cx="1645614" cy="7499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stm_ld.ld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Hình chữ nhật 46"/>
          <p:cNvSpPr/>
          <p:nvPr/>
        </p:nvSpPr>
        <p:spPr>
          <a:xfrm>
            <a:off x="9784545" y="3458541"/>
            <a:ext cx="2084774" cy="7499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Objcopy</a:t>
            </a: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Hình chữ nhật 51"/>
          <p:cNvSpPr/>
          <p:nvPr/>
        </p:nvSpPr>
        <p:spPr>
          <a:xfrm>
            <a:off x="7563961" y="3458541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GPIO.elf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Đường kết nối Mũi tên Thẳng 56"/>
          <p:cNvCxnSpPr>
            <a:stCxn id="52" idx="3"/>
            <a:endCxn id="47" idx="1"/>
          </p:cNvCxnSpPr>
          <p:nvPr/>
        </p:nvCxnSpPr>
        <p:spPr>
          <a:xfrm>
            <a:off x="9209575" y="3833496"/>
            <a:ext cx="57497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Hình chữ nhật 66"/>
          <p:cNvSpPr/>
          <p:nvPr/>
        </p:nvSpPr>
        <p:spPr>
          <a:xfrm>
            <a:off x="8056898" y="1394228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GPIO.hex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Hình chữ nhật 68"/>
          <p:cNvSpPr/>
          <p:nvPr/>
        </p:nvSpPr>
        <p:spPr>
          <a:xfrm>
            <a:off x="10223705" y="1394227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GPIO.bin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Đường kết nối Mũi tên Thẳng 69"/>
          <p:cNvCxnSpPr>
            <a:stCxn id="47" idx="0"/>
            <a:endCxn id="67" idx="2"/>
          </p:cNvCxnSpPr>
          <p:nvPr/>
        </p:nvCxnSpPr>
        <p:spPr>
          <a:xfrm flipH="1" flipV="1">
            <a:off x="8879705" y="2144137"/>
            <a:ext cx="1947227" cy="13144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Đường kết nối Mũi tên Thẳng 70"/>
          <p:cNvCxnSpPr>
            <a:stCxn id="47" idx="0"/>
            <a:endCxn id="69" idx="2"/>
          </p:cNvCxnSpPr>
          <p:nvPr/>
        </p:nvCxnSpPr>
        <p:spPr>
          <a:xfrm flipV="1">
            <a:off x="10826932" y="2144136"/>
            <a:ext cx="219580" cy="13144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Mặt Cười 77"/>
          <p:cNvSpPr/>
          <p:nvPr/>
        </p:nvSpPr>
        <p:spPr>
          <a:xfrm>
            <a:off x="8556432" y="793717"/>
            <a:ext cx="653143" cy="569168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Mặt Cười 78"/>
          <p:cNvSpPr/>
          <p:nvPr/>
        </p:nvSpPr>
        <p:spPr>
          <a:xfrm>
            <a:off x="10719940" y="793717"/>
            <a:ext cx="653143" cy="569168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Mặt Cười 79"/>
          <p:cNvSpPr/>
          <p:nvPr/>
        </p:nvSpPr>
        <p:spPr>
          <a:xfrm>
            <a:off x="8060196" y="2852177"/>
            <a:ext cx="653143" cy="569168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 / Linker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&lt;Compiler Options&gt;  </a:t>
            </a:r>
            <a:r>
              <a:rPr lang="en-US" b="1" i="1" dirty="0"/>
              <a:t>-o </a:t>
            </a:r>
            <a:r>
              <a:rPr lang="en-US" i="1" dirty="0"/>
              <a:t> &lt;Target&gt; &lt;All Prerequisite&gt;</a:t>
            </a:r>
            <a:br>
              <a:rPr lang="en-US" i="1" dirty="0"/>
            </a:br>
            <a:r>
              <a:rPr lang="en-US" i="1" dirty="0"/>
              <a:t>	&lt; Linker Options&gt;  </a:t>
            </a:r>
            <a:r>
              <a:rPr lang="en-US" b="1" i="1" dirty="0"/>
              <a:t>-o </a:t>
            </a:r>
            <a:r>
              <a:rPr lang="en-US" i="1" dirty="0"/>
              <a:t> &lt;Target&gt; &lt;All Prerequisite&gt;</a:t>
            </a:r>
            <a:endParaRPr lang="en-US" i="1" dirty="0"/>
          </a:p>
          <a:p>
            <a:r>
              <a:rPr lang="en-US" dirty="0"/>
              <a:t>Create </a:t>
            </a:r>
            <a:r>
              <a:rPr lang="en-US" b="1" dirty="0"/>
              <a:t>hex, bin, elf </a:t>
            </a:r>
            <a:r>
              <a:rPr lang="en-US" dirty="0"/>
              <a:t>for Microcontrollers</a:t>
            </a:r>
            <a:br>
              <a:rPr lang="en-US" dirty="0"/>
            </a:br>
            <a:r>
              <a:rPr lang="en-US" dirty="0"/>
              <a:t>	Linker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file elf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&lt; Linker Options&gt;  </a:t>
            </a:r>
            <a:r>
              <a:rPr lang="en-US" b="1" i="1" dirty="0"/>
              <a:t>-o </a:t>
            </a:r>
            <a:r>
              <a:rPr lang="en-US" i="1" dirty="0"/>
              <a:t> &lt;Target&gt; &lt;All Prerequisite&gt;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	Object Copy to Create hex file</a:t>
            </a:r>
            <a:br>
              <a:rPr lang="en-US" dirty="0"/>
            </a:br>
            <a:r>
              <a:rPr lang="en-US" dirty="0"/>
              <a:t>	</a:t>
            </a:r>
            <a:r>
              <a:rPr lang="en-US" b="1" i="1" dirty="0"/>
              <a:t>objcopy.exe  -O </a:t>
            </a:r>
            <a:r>
              <a:rPr lang="en-US" b="1" i="1" dirty="0" err="1"/>
              <a:t>ihex</a:t>
            </a:r>
            <a:r>
              <a:rPr lang="en-US" i="1" dirty="0"/>
              <a:t> &lt;file elf&gt; &lt;file hex&gt;</a:t>
            </a:r>
            <a:endParaRPr lang="en-US" i="1" dirty="0"/>
          </a:p>
          <a:p>
            <a:r>
              <a:rPr lang="en-US" dirty="0" err="1"/>
              <a:t>Nạp</a:t>
            </a:r>
            <a:r>
              <a:rPr lang="en-US" dirty="0"/>
              <a:t> code</a:t>
            </a:r>
            <a:br>
              <a:rPr lang="en-US" dirty="0"/>
            </a:br>
            <a:r>
              <a:rPr lang="en-US" dirty="0"/>
              <a:t>	</a:t>
            </a:r>
            <a:r>
              <a:rPr lang="en-US" b="1" i="1" dirty="0"/>
              <a:t>ST-LINK_CLI.exe –ME</a:t>
            </a:r>
            <a:br>
              <a:rPr lang="en-US" i="1" dirty="0"/>
            </a:br>
            <a:r>
              <a:rPr lang="en-US" i="1" dirty="0"/>
              <a:t>	</a:t>
            </a:r>
            <a:r>
              <a:rPr lang="en-US" b="1" i="1" dirty="0"/>
              <a:t>ST-LINK_CLI.exe -p </a:t>
            </a:r>
            <a:r>
              <a:rPr lang="en-US" i="1" dirty="0"/>
              <a:t>&lt;file hex&gt; &lt;Địa </a:t>
            </a:r>
            <a:r>
              <a:rPr lang="en-US" i="1" dirty="0" err="1"/>
              <a:t>chỉ</a:t>
            </a:r>
            <a:r>
              <a:rPr lang="en-US" i="1" dirty="0"/>
              <a:t> </a:t>
            </a:r>
            <a:r>
              <a:rPr lang="en-US" i="1" dirty="0" err="1"/>
              <a:t>bắt</a:t>
            </a:r>
            <a:r>
              <a:rPr lang="en-US" i="1" dirty="0"/>
              <a:t> </a:t>
            </a:r>
            <a:r>
              <a:rPr lang="en-US" i="1" dirty="0" err="1"/>
              <a:t>đầu</a:t>
            </a:r>
            <a:r>
              <a:rPr lang="en-US" i="1" dirty="0"/>
              <a:t> </a:t>
            </a:r>
            <a:r>
              <a:rPr lang="en-US" i="1" dirty="0" err="1"/>
              <a:t>nạp</a:t>
            </a:r>
            <a:r>
              <a:rPr lang="en-US" i="1" dirty="0"/>
              <a:t> code&gt;</a:t>
            </a:r>
            <a:br>
              <a:rPr lang="en-US" i="1" dirty="0"/>
            </a:br>
            <a:r>
              <a:rPr lang="en-US" i="1" dirty="0"/>
              <a:t>	</a:t>
            </a:r>
            <a:r>
              <a:rPr lang="en-US" b="1" i="1" dirty="0"/>
              <a:t>ST-LINK_CLI.exe -</a:t>
            </a:r>
            <a:r>
              <a:rPr lang="en-US" b="1" i="1" dirty="0" err="1"/>
              <a:t>rst</a:t>
            </a:r>
            <a:endParaRPr lang="en-US" b="1" i="1" dirty="0"/>
          </a:p>
          <a:p>
            <a:endParaRPr lang="en-US" dirty="0"/>
          </a:p>
          <a:p>
            <a:endParaRPr lang="en-US" i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857185"/>
          </a:xfrm>
        </p:spPr>
        <p:txBody>
          <a:bodyPr/>
          <a:lstStyle/>
          <a:p>
            <a:pPr algn="ctr"/>
            <a:r>
              <a:rPr lang="en-US" dirty="0"/>
              <a:t>Compiler Options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944880" y="1222310"/>
            <a:ext cx="5151119" cy="5499165"/>
          </a:xfrm>
        </p:spPr>
        <p:txBody>
          <a:bodyPr/>
          <a:lstStyle/>
          <a:p>
            <a:r>
              <a:rPr lang="en-US" b="1" dirty="0"/>
              <a:t>arm-none-</a:t>
            </a:r>
            <a:r>
              <a:rPr lang="en-US" b="1" dirty="0" err="1"/>
              <a:t>eabi</a:t>
            </a:r>
            <a:r>
              <a:rPr lang="en-US" b="1" dirty="0"/>
              <a:t>-</a:t>
            </a:r>
            <a:r>
              <a:rPr lang="en-US" b="1" dirty="0" err="1"/>
              <a:t>gcc</a:t>
            </a:r>
            <a:endParaRPr lang="en-US" b="1" dirty="0"/>
          </a:p>
          <a:p>
            <a:r>
              <a:rPr lang="en-US" b="1" dirty="0"/>
              <a:t>-</a:t>
            </a:r>
            <a:r>
              <a:rPr lang="en-US" b="1" dirty="0" err="1"/>
              <a:t>mcpu</a:t>
            </a:r>
            <a:r>
              <a:rPr lang="en-US" b="1" dirty="0"/>
              <a:t>=</a:t>
            </a:r>
            <a:r>
              <a:rPr lang="en-US" dirty="0"/>
              <a:t>cortex-m4</a:t>
            </a:r>
            <a:endParaRPr lang="en-US" dirty="0"/>
          </a:p>
          <a:p>
            <a:r>
              <a:rPr lang="en-US" b="1" dirty="0"/>
              <a:t>-</a:t>
            </a:r>
            <a:r>
              <a:rPr lang="en-US" b="1" dirty="0" err="1"/>
              <a:t>mthumb</a:t>
            </a:r>
            <a:endParaRPr lang="en-US" b="1" dirty="0"/>
          </a:p>
          <a:p>
            <a:r>
              <a:rPr lang="en-US" b="1" dirty="0"/>
              <a:t>-std=</a:t>
            </a:r>
            <a:r>
              <a:rPr lang="en-US" dirty="0"/>
              <a:t>gnu11</a:t>
            </a:r>
            <a:endParaRPr lang="en-US" dirty="0"/>
          </a:p>
          <a:p>
            <a:r>
              <a:rPr lang="en-US" b="1" dirty="0"/>
              <a:t>-O</a:t>
            </a:r>
            <a:r>
              <a:rPr lang="en-US" dirty="0"/>
              <a:t>x</a:t>
            </a:r>
            <a:endParaRPr lang="en-US" dirty="0"/>
          </a:p>
          <a:p>
            <a:r>
              <a:rPr lang="en-US" b="1" dirty="0"/>
              <a:t>-I</a:t>
            </a:r>
            <a:r>
              <a:rPr lang="en-US" dirty="0"/>
              <a:t>$(</a:t>
            </a:r>
            <a:r>
              <a:rPr lang="en-US" dirty="0" err="1"/>
              <a:t>Include_DIR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4" name="Tiêu đề 1"/>
          <p:cNvSpPr txBox="1"/>
          <p:nvPr/>
        </p:nvSpPr>
        <p:spPr>
          <a:xfrm>
            <a:off x="6096000" y="365125"/>
            <a:ext cx="5257800" cy="857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Linker Options</a:t>
            </a:r>
            <a:endParaRPr lang="en-US" dirty="0"/>
          </a:p>
        </p:txBody>
      </p:sp>
      <p:sp>
        <p:nvSpPr>
          <p:cNvPr id="5" name="Chỗ dành sẵn cho Nội dung 2"/>
          <p:cNvSpPr txBox="1"/>
          <p:nvPr/>
        </p:nvSpPr>
        <p:spPr>
          <a:xfrm>
            <a:off x="6522720" y="1222310"/>
            <a:ext cx="5135874" cy="549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arm-none-</a:t>
            </a:r>
            <a:r>
              <a:rPr lang="en-US" b="1" dirty="0" err="1"/>
              <a:t>eabi</a:t>
            </a:r>
            <a:r>
              <a:rPr lang="en-US" b="1" dirty="0"/>
              <a:t>-</a:t>
            </a:r>
            <a:r>
              <a:rPr lang="en-US" b="1" dirty="0" err="1"/>
              <a:t>ld</a:t>
            </a:r>
            <a:endParaRPr lang="en-US" b="1" dirty="0"/>
          </a:p>
          <a:p>
            <a:r>
              <a:rPr lang="en-US" b="1" dirty="0"/>
              <a:t>-T </a:t>
            </a:r>
            <a:r>
              <a:rPr lang="en-US" dirty="0"/>
              <a:t>$(LINKER_FILE)</a:t>
            </a:r>
            <a:endParaRPr lang="en-US" dirty="0"/>
          </a:p>
          <a:p>
            <a:r>
              <a:rPr lang="en-US" b="1" dirty="0"/>
              <a:t>-Map </a:t>
            </a:r>
            <a:r>
              <a:rPr lang="en-US" dirty="0"/>
              <a:t>&lt;</a:t>
            </a:r>
            <a:r>
              <a:rPr lang="en-US" dirty="0" err="1"/>
              <a:t>path_to_file.map</a:t>
            </a:r>
            <a:r>
              <a:rPr lang="en-US" dirty="0"/>
              <a:t>&gt;</a:t>
            </a:r>
            <a:br>
              <a:rPr lang="en-US" dirty="0"/>
            </a:br>
            <a:r>
              <a:rPr lang="en-US" b="1" dirty="0"/>
              <a:t>-</a:t>
            </a:r>
            <a:r>
              <a:rPr lang="en-US" b="1" dirty="0" err="1"/>
              <a:t>Wl</a:t>
            </a:r>
            <a:r>
              <a:rPr lang="en-US" b="1" dirty="0"/>
              <a:t>,-Map=</a:t>
            </a:r>
            <a:r>
              <a:rPr lang="en-US" dirty="0"/>
              <a:t> &lt;</a:t>
            </a:r>
            <a:r>
              <a:rPr lang="en-US" dirty="0" err="1"/>
              <a:t>path_to_file.map</a:t>
            </a:r>
            <a:r>
              <a:rPr lang="en-US" dirty="0"/>
              <a:t>&gt;</a:t>
            </a:r>
            <a:endParaRPr lang="en-US" dirty="0"/>
          </a:p>
          <a:p>
            <a:r>
              <a:rPr lang="en-US" b="1" dirty="0"/>
              <a:t>-</a:t>
            </a:r>
            <a:r>
              <a:rPr lang="en-US" b="1" dirty="0" err="1"/>
              <a:t>nostdlib</a:t>
            </a:r>
            <a:endParaRPr lang="en-US" dirty="0"/>
          </a:p>
        </p:txBody>
      </p:sp>
      <p:cxnSp>
        <p:nvCxnSpPr>
          <p:cNvPr id="7" name="Đường nối Thẳng 6"/>
          <p:cNvCxnSpPr/>
          <p:nvPr/>
        </p:nvCxnSpPr>
        <p:spPr>
          <a:xfrm>
            <a:off x="6096000" y="365125"/>
            <a:ext cx="0" cy="53651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Đường nối Thẳng 8"/>
          <p:cNvCxnSpPr/>
          <p:nvPr/>
        </p:nvCxnSpPr>
        <p:spPr>
          <a:xfrm>
            <a:off x="411480" y="1222310"/>
            <a:ext cx="112471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Tổng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Makefile</a:t>
            </a:r>
            <a:endParaRPr lang="en-US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Các </a:t>
            </a:r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khóa</a:t>
            </a:r>
            <a:r>
              <a:rPr lang="en-US" sz="2800" dirty="0"/>
              <a:t>/function </a:t>
            </a:r>
            <a:r>
              <a:rPr lang="en-US" sz="2800" dirty="0" err="1"/>
              <a:t>trong</a:t>
            </a:r>
            <a:r>
              <a:rPr lang="en-US" sz="2800" dirty="0"/>
              <a:t> makefile</a:t>
            </a:r>
            <a:endParaRPr lang="en-US" sz="2800" dirty="0"/>
          </a:p>
          <a:p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hành</a:t>
            </a:r>
            <a:r>
              <a:rPr lang="en-US" sz="2800" dirty="0"/>
              <a:t> </a:t>
            </a:r>
            <a:r>
              <a:rPr lang="en-US" sz="2800" dirty="0" err="1"/>
              <a:t>tổng</a:t>
            </a:r>
            <a:r>
              <a:rPr lang="en-US" sz="2800" dirty="0"/>
              <a:t> </a:t>
            </a:r>
            <a:r>
              <a:rPr lang="en-US" sz="2800" dirty="0" err="1"/>
              <a:t>quát</a:t>
            </a:r>
            <a:r>
              <a:rPr lang="en-US" sz="2800" dirty="0"/>
              <a:t> </a:t>
            </a:r>
            <a:r>
              <a:rPr lang="en-US" sz="2800" dirty="0" err="1"/>
              <a:t>hóa</a:t>
            </a:r>
            <a:r>
              <a:rPr lang="en-US" sz="2800" dirty="0"/>
              <a:t> Makefile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bài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VĐK</a:t>
            </a:r>
            <a:endParaRPr 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Variables</a:t>
            </a:r>
            <a:endParaRPr lang="en-US" dirty="0"/>
          </a:p>
        </p:txBody>
      </p:sp>
      <p:graphicFrame>
        <p:nvGraphicFramePr>
          <p:cNvPr id="4" name="Bảng 4"/>
          <p:cNvGraphicFramePr>
            <a:graphicFrameLocks noGrp="1"/>
          </p:cNvGraphicFramePr>
          <p:nvPr>
            <p:ph idx="1"/>
          </p:nvPr>
        </p:nvGraphicFramePr>
        <p:xfrm>
          <a:off x="5340625" y="2766571"/>
          <a:ext cx="6013175" cy="186157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51299"/>
                <a:gridCol w="4461876"/>
              </a:tblGrid>
              <a:tr h="4899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Symbols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Meaning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$@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File name of the target of the rule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$^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 of all the prerequisite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0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$&lt;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/>
                        <a:t>Name of the first prerequisite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Hình ảnh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0218" y="1378214"/>
            <a:ext cx="8391562" cy="944217"/>
          </a:xfrm>
          <a:prstGeom prst="rect">
            <a:avLst/>
          </a:prstGeom>
        </p:spPr>
      </p:pic>
      <p:pic>
        <p:nvPicPr>
          <p:cNvPr id="8" name="Hình ảnh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069" y="5340638"/>
            <a:ext cx="6577859" cy="1055706"/>
          </a:xfrm>
          <a:prstGeom prst="rect">
            <a:avLst/>
          </a:prstGeom>
        </p:spPr>
      </p:pic>
      <p:sp>
        <p:nvSpPr>
          <p:cNvPr id="14" name="Hộp Văn bản 13"/>
          <p:cNvSpPr txBox="1"/>
          <p:nvPr/>
        </p:nvSpPr>
        <p:spPr>
          <a:xfrm>
            <a:off x="2807069" y="3097192"/>
            <a:ext cx="2533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Some symbols used to generalize the rules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20" name="Đường kết nối: Cong 19"/>
          <p:cNvCxnSpPr>
            <a:stCxn id="6" idx="2"/>
            <a:endCxn id="8" idx="1"/>
          </p:cNvCxnSpPr>
          <p:nvPr/>
        </p:nvCxnSpPr>
        <p:spPr>
          <a:xfrm rot="5400000">
            <a:off x="2678504" y="2450996"/>
            <a:ext cx="3546060" cy="3288930"/>
          </a:xfrm>
          <a:prstGeom prst="curvedConnector4">
            <a:avLst>
              <a:gd name="adj1" fmla="val 10604"/>
              <a:gd name="adj2" fmla="val 13156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‘wildcard’ Characters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838200" y="1222310"/>
            <a:ext cx="10611678" cy="5499165"/>
          </a:xfrm>
        </p:spPr>
        <p:txBody>
          <a:bodyPr/>
          <a:lstStyle/>
          <a:p>
            <a:r>
              <a:rPr lang="en-US" dirty="0"/>
              <a:t>The wildcard characters in make are ‘*’, ‘?’, ‘[…]’</a:t>
            </a:r>
            <a:endParaRPr lang="en-US" dirty="0"/>
          </a:p>
          <a:p>
            <a:r>
              <a:rPr lang="en-US" dirty="0"/>
              <a:t>For examples, *.c specifies a list of all the files whose names end in ‘.c’</a:t>
            </a:r>
            <a:endParaRPr lang="en-US" dirty="0"/>
          </a:p>
          <a:p>
            <a:endParaRPr lang="en-US" dirty="0"/>
          </a:p>
        </p:txBody>
      </p:sp>
      <p:pic>
        <p:nvPicPr>
          <p:cNvPr id="7" name="Hình ảnh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175" y="2352135"/>
            <a:ext cx="2409825" cy="676275"/>
          </a:xfrm>
          <a:prstGeom prst="rect">
            <a:avLst/>
          </a:prstGeom>
        </p:spPr>
      </p:pic>
      <p:sp>
        <p:nvSpPr>
          <p:cNvPr id="8" name="Hộp Văn bản 7"/>
          <p:cNvSpPr txBox="1"/>
          <p:nvPr/>
        </p:nvSpPr>
        <p:spPr>
          <a:xfrm>
            <a:off x="6076122" y="2459439"/>
            <a:ext cx="4108937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Clear all files in ‘output’ folder</a:t>
            </a:r>
            <a:endParaRPr lang="en-US" sz="2400" dirty="0"/>
          </a:p>
        </p:txBody>
      </p:sp>
      <p:cxnSp>
        <p:nvCxnSpPr>
          <p:cNvPr id="10" name="Đường kết nối Mũi tên Thẳng 9"/>
          <p:cNvCxnSpPr>
            <a:stCxn id="7" idx="3"/>
            <a:endCxn id="8" idx="1"/>
          </p:cNvCxnSpPr>
          <p:nvPr/>
        </p:nvCxnSpPr>
        <p:spPr>
          <a:xfrm flipV="1">
            <a:off x="5375000" y="2690272"/>
            <a:ext cx="701122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Hình ảnh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081" y="3289987"/>
            <a:ext cx="8541838" cy="745907"/>
          </a:xfrm>
          <a:prstGeom prst="rect">
            <a:avLst/>
          </a:prstGeom>
        </p:spPr>
      </p:pic>
      <p:cxnSp>
        <p:nvCxnSpPr>
          <p:cNvPr id="13" name="Đường kết nối Mũi tên Thẳng 12"/>
          <p:cNvCxnSpPr>
            <a:stCxn id="12" idx="2"/>
            <a:endCxn id="14" idx="0"/>
          </p:cNvCxnSpPr>
          <p:nvPr/>
        </p:nvCxnSpPr>
        <p:spPr>
          <a:xfrm>
            <a:off x="6096000" y="4035894"/>
            <a:ext cx="0" cy="4686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Hộp Văn bản 13"/>
          <p:cNvSpPr txBox="1"/>
          <p:nvPr/>
        </p:nvSpPr>
        <p:spPr>
          <a:xfrm>
            <a:off x="4041531" y="4504582"/>
            <a:ext cx="4108937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Get all files in the PATH C:\Users\Admin\...</a:t>
            </a:r>
            <a:endParaRPr lang="en-US" sz="2400" dirty="0"/>
          </a:p>
        </p:txBody>
      </p:sp>
      <p:pic>
        <p:nvPicPr>
          <p:cNvPr id="23" name="Hình ảnh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900" y="5804267"/>
            <a:ext cx="10158197" cy="433735"/>
          </a:xfrm>
          <a:prstGeom prst="rect">
            <a:avLst/>
          </a:prstGeom>
        </p:spPr>
      </p:pic>
      <p:cxnSp>
        <p:nvCxnSpPr>
          <p:cNvPr id="24" name="Đường kết nối Mũi tên Thẳng 23"/>
          <p:cNvCxnSpPr>
            <a:stCxn id="14" idx="2"/>
            <a:endCxn id="23" idx="0"/>
          </p:cNvCxnSpPr>
          <p:nvPr/>
        </p:nvCxnSpPr>
        <p:spPr>
          <a:xfrm flipH="1">
            <a:off x="6095999" y="5335579"/>
            <a:ext cx="1" cy="4686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‘foreach’ function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charset="0"/>
              </a:rPr>
              <a:t>This function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</a:rPr>
              <a:t> causes one piece of text to be used repeatedly, each time with a different substitution performed on it.</a:t>
            </a: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262" y="2362200"/>
            <a:ext cx="8753475" cy="1066800"/>
          </a:xfrm>
          <a:prstGeom prst="rect">
            <a:avLst/>
          </a:prstGeom>
        </p:spPr>
      </p:pic>
      <p:sp>
        <p:nvSpPr>
          <p:cNvPr id="6" name="Hộp Văn bản 5"/>
          <p:cNvSpPr txBox="1"/>
          <p:nvPr/>
        </p:nvSpPr>
        <p:spPr>
          <a:xfrm>
            <a:off x="1719262" y="3429000"/>
            <a:ext cx="8080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Get all files in the all folder of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Process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ình chữ nhật 3"/>
          <p:cNvSpPr/>
          <p:nvPr/>
        </p:nvSpPr>
        <p:spPr>
          <a:xfrm>
            <a:off x="5273193" y="1222310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GPIO.hex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ình chữ nhật 4"/>
          <p:cNvSpPr/>
          <p:nvPr/>
        </p:nvSpPr>
        <p:spPr>
          <a:xfrm>
            <a:off x="5273193" y="2454449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GPIO.elf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ình chữ nhật 5"/>
          <p:cNvSpPr/>
          <p:nvPr/>
        </p:nvSpPr>
        <p:spPr>
          <a:xfrm>
            <a:off x="5273193" y="3857593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main.o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Hình chữ nhật 6"/>
          <p:cNvSpPr/>
          <p:nvPr/>
        </p:nvSpPr>
        <p:spPr>
          <a:xfrm>
            <a:off x="2324253" y="3857593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GPIO.o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ình chữ nhật 7"/>
          <p:cNvSpPr/>
          <p:nvPr/>
        </p:nvSpPr>
        <p:spPr>
          <a:xfrm>
            <a:off x="8222133" y="3857593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startup.o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Hình chữ nhật 9"/>
          <p:cNvSpPr/>
          <p:nvPr/>
        </p:nvSpPr>
        <p:spPr>
          <a:xfrm>
            <a:off x="5273193" y="5464687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main.c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Hình chữ nhật 10"/>
          <p:cNvSpPr/>
          <p:nvPr/>
        </p:nvSpPr>
        <p:spPr>
          <a:xfrm>
            <a:off x="2324253" y="5464687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GPIO.c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Hình chữ nhật 11"/>
          <p:cNvSpPr/>
          <p:nvPr/>
        </p:nvSpPr>
        <p:spPr>
          <a:xfrm>
            <a:off x="8222133" y="5464687"/>
            <a:ext cx="1645614" cy="7499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startup.c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Đường kết nối Mũi tên Thẳng 12"/>
          <p:cNvCxnSpPr>
            <a:stCxn id="5" idx="0"/>
          </p:cNvCxnSpPr>
          <p:nvPr/>
        </p:nvCxnSpPr>
        <p:spPr>
          <a:xfrm flipV="1">
            <a:off x="6096000" y="1972219"/>
            <a:ext cx="0" cy="4822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Đường kết nối Mũi tên Thẳng 15"/>
          <p:cNvCxnSpPr>
            <a:stCxn id="8" idx="0"/>
          </p:cNvCxnSpPr>
          <p:nvPr/>
        </p:nvCxnSpPr>
        <p:spPr>
          <a:xfrm flipH="1" flipV="1">
            <a:off x="6918807" y="2829403"/>
            <a:ext cx="2126133" cy="1028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Đường kết nối Mũi tên Thẳng 16"/>
          <p:cNvCxnSpPr>
            <a:stCxn id="7" idx="0"/>
            <a:endCxn id="5" idx="1"/>
          </p:cNvCxnSpPr>
          <p:nvPr/>
        </p:nvCxnSpPr>
        <p:spPr>
          <a:xfrm flipV="1">
            <a:off x="3147060" y="2829404"/>
            <a:ext cx="2126133" cy="10281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Đường kết nối Mũi tên Thẳng 17"/>
          <p:cNvCxnSpPr>
            <a:stCxn id="11" idx="0"/>
            <a:endCxn id="7" idx="2"/>
          </p:cNvCxnSpPr>
          <p:nvPr/>
        </p:nvCxnSpPr>
        <p:spPr>
          <a:xfrm flipV="1">
            <a:off x="3147060" y="4607502"/>
            <a:ext cx="0" cy="857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Đường kết nối Mũi tên Thẳng 18"/>
          <p:cNvCxnSpPr>
            <a:stCxn id="6" idx="0"/>
            <a:endCxn id="5" idx="2"/>
          </p:cNvCxnSpPr>
          <p:nvPr/>
        </p:nvCxnSpPr>
        <p:spPr>
          <a:xfrm flipV="1">
            <a:off x="6096000" y="3204358"/>
            <a:ext cx="0" cy="6532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/>
          <p:cNvCxnSpPr>
            <a:stCxn id="12" idx="0"/>
            <a:endCxn id="8" idx="2"/>
          </p:cNvCxnSpPr>
          <p:nvPr/>
        </p:nvCxnSpPr>
        <p:spPr>
          <a:xfrm flipV="1">
            <a:off x="9044940" y="4607502"/>
            <a:ext cx="0" cy="857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Đường kết nối Mũi tên Thẳng 20"/>
          <p:cNvCxnSpPr>
            <a:stCxn id="10" idx="0"/>
            <a:endCxn id="6" idx="2"/>
          </p:cNvCxnSpPr>
          <p:nvPr/>
        </p:nvCxnSpPr>
        <p:spPr>
          <a:xfrm flipV="1">
            <a:off x="6096000" y="4607502"/>
            <a:ext cx="0" cy="857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VPATH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project has many files in the different folders</a:t>
            </a:r>
            <a:endParaRPr lang="en-US" dirty="0"/>
          </a:p>
          <a:p>
            <a:r>
              <a:rPr lang="en-US" dirty="0"/>
              <a:t>VPATH variable specifies the list of directories that make should search for prerequisites and targets of rules</a:t>
            </a:r>
            <a:endParaRPr lang="en-US" dirty="0"/>
          </a:p>
          <a:p>
            <a:r>
              <a:rPr lang="en-US" dirty="0"/>
              <a:t>VPATH automatically search all Directory for Files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495" y="3971892"/>
            <a:ext cx="5995010" cy="134554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Rules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%.o : %.c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	recipes….</a:t>
            </a:r>
            <a:endParaRPr lang="en-US" sz="3200" b="1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Tell how to make a .o file from a respectively .c file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</a:t>
            </a:r>
            <a:r>
              <a:rPr lang="en-US" dirty="0" err="1"/>
              <a:t>notdir</a:t>
            </a:r>
            <a:r>
              <a:rPr lang="en-US" dirty="0"/>
              <a:t>’ – not direct  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to get file or folder without the direct/path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9620" y="2051894"/>
            <a:ext cx="6852760" cy="476932"/>
          </a:xfrm>
          <a:prstGeom prst="rect">
            <a:avLst/>
          </a:prstGeom>
        </p:spPr>
      </p:pic>
      <p:pic>
        <p:nvPicPr>
          <p:cNvPr id="7" name="Hình ảnh 6"/>
          <p:cNvPicPr>
            <a:picLocks noChangeAspect="1"/>
          </p:cNvPicPr>
          <p:nvPr/>
        </p:nvPicPr>
        <p:blipFill rotWithShape="1">
          <a:blip r:embed="rId2"/>
          <a:srcRect t="3067"/>
          <a:stretch>
            <a:fillRect/>
          </a:stretch>
        </p:blipFill>
        <p:spPr>
          <a:xfrm>
            <a:off x="3662918" y="3358410"/>
            <a:ext cx="4866163" cy="872574"/>
          </a:xfrm>
          <a:prstGeom prst="rect">
            <a:avLst/>
          </a:prstGeom>
        </p:spPr>
      </p:pic>
      <p:cxnSp>
        <p:nvCxnSpPr>
          <p:cNvPr id="8" name="Đường kết nối Mũi tên Thẳng 7"/>
          <p:cNvCxnSpPr>
            <a:stCxn id="5" idx="2"/>
            <a:endCxn id="7" idx="0"/>
          </p:cNvCxnSpPr>
          <p:nvPr/>
        </p:nvCxnSpPr>
        <p:spPr>
          <a:xfrm>
            <a:off x="6096000" y="2528826"/>
            <a:ext cx="0" cy="8295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Concept in Makefile</a:t>
            </a:r>
            <a:endParaRPr lang="en-US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Ifeq</a:t>
            </a:r>
            <a:r>
              <a:rPr lang="en-US" dirty="0"/>
              <a:t> &amp; export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many module in a test program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Modify Makefile with each module??? </a:t>
            </a:r>
            <a:r>
              <a:rPr lang="en-US" dirty="0">
                <a:sym typeface="Wingdings" panose="05000000000000000000" pitchFamily="2" charset="2"/>
              </a:rPr>
              <a:t> NO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We can use export </a:t>
            </a:r>
            <a:endParaRPr lang="en-US" dirty="0"/>
          </a:p>
        </p:txBody>
      </p:sp>
      <p:pic>
        <p:nvPicPr>
          <p:cNvPr id="5" name="Hình ảnh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" y="5337830"/>
            <a:ext cx="9582150" cy="933450"/>
          </a:xfrm>
          <a:prstGeom prst="rect">
            <a:avLst/>
          </a:prstGeom>
        </p:spPr>
      </p:pic>
      <p:pic>
        <p:nvPicPr>
          <p:cNvPr id="7" name="Hình ảnh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567" y="2881570"/>
            <a:ext cx="9046865" cy="220019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Makefile</a:t>
            </a:r>
            <a:endParaRPr lang="en-US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other makefile or file config of makefile</a:t>
            </a:r>
            <a:endParaRPr lang="en-US" dirty="0"/>
          </a:p>
        </p:txBody>
      </p:sp>
      <p:pic>
        <p:nvPicPr>
          <p:cNvPr id="1026" name="Picture 2" descr="Send large files up to 5GB for fre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880" y="2514228"/>
            <a:ext cx="14859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end large files up to 5GB for fre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542" y="2514228"/>
            <a:ext cx="14859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Hộp Văn bản 5"/>
          <p:cNvSpPr txBox="1"/>
          <p:nvPr/>
        </p:nvSpPr>
        <p:spPr>
          <a:xfrm>
            <a:off x="2627383" y="4343028"/>
            <a:ext cx="193089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File make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File .</a:t>
            </a:r>
            <a:r>
              <a:rPr lang="en-US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mak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File .</a:t>
            </a:r>
            <a:r>
              <a:rPr lang="en-US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mk</a:t>
            </a:r>
            <a:endParaRPr lang="en-US" sz="2600" dirty="0"/>
          </a:p>
        </p:txBody>
      </p:sp>
      <p:sp>
        <p:nvSpPr>
          <p:cNvPr id="7" name="Hộp Văn bản 6"/>
          <p:cNvSpPr txBox="1"/>
          <p:nvPr/>
        </p:nvSpPr>
        <p:spPr>
          <a:xfrm>
            <a:off x="7908045" y="4343028"/>
            <a:ext cx="19308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Makefile</a:t>
            </a:r>
            <a:endParaRPr lang="en-US" sz="2600" dirty="0"/>
          </a:p>
        </p:txBody>
      </p:sp>
      <p:sp>
        <p:nvSpPr>
          <p:cNvPr id="4" name="Mũi tên: Phải 3"/>
          <p:cNvSpPr/>
          <p:nvPr/>
        </p:nvSpPr>
        <p:spPr>
          <a:xfrm>
            <a:off x="4558276" y="3214332"/>
            <a:ext cx="3349769" cy="66294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ộp Văn bản 8"/>
          <p:cNvSpPr txBox="1"/>
          <p:nvPr/>
        </p:nvSpPr>
        <p:spPr>
          <a:xfrm>
            <a:off x="4717927" y="2910322"/>
            <a:ext cx="303046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include &lt;</a:t>
            </a:r>
            <a:r>
              <a:rPr lang="en-US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/file&gt;</a:t>
            </a:r>
            <a:endParaRPr lang="en-US" sz="2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hỗ dành sẵn cho Nội dung 4"/>
          <p:cNvPicPr>
            <a:picLocks noGrp="1" noChangeAspect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8" b="7746"/>
          <a:stretch>
            <a:fillRect/>
          </a:stretch>
        </p:blipFill>
        <p:spPr>
          <a:xfrm>
            <a:off x="456817" y="154643"/>
            <a:ext cx="11277600" cy="6548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8170</Words>
  <Application>WPS Presentation</Application>
  <PresentationFormat>Màn hình rộng</PresentationFormat>
  <Paragraphs>579</Paragraphs>
  <Slides>50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9" baseType="lpstr">
      <vt:lpstr>Arial</vt:lpstr>
      <vt:lpstr>SimSun</vt:lpstr>
      <vt:lpstr>Wingdings</vt:lpstr>
      <vt:lpstr>Roboto</vt:lpstr>
      <vt:lpstr>Times New Roman</vt:lpstr>
      <vt:lpstr>Calibri</vt:lpstr>
      <vt:lpstr>Microsoft YaHei</vt:lpstr>
      <vt:lpstr>Arial Unicode MS</vt:lpstr>
      <vt:lpstr>Chủ đề Office</vt:lpstr>
      <vt:lpstr>Makefile Course</vt:lpstr>
      <vt:lpstr>Mục tiêu khóa học</vt:lpstr>
      <vt:lpstr>Giới thiệu</vt:lpstr>
      <vt:lpstr>Nội dung</vt:lpstr>
      <vt:lpstr>Build Process</vt:lpstr>
      <vt:lpstr>Build Process – Basic</vt:lpstr>
      <vt:lpstr>Build Process – Embedded</vt:lpstr>
      <vt:lpstr>Build Process – Embedded </vt:lpstr>
      <vt:lpstr>Đọc thêm</vt:lpstr>
      <vt:lpstr>GCC – Command Line</vt:lpstr>
      <vt:lpstr>Trình biên dịch là gì?</vt:lpstr>
      <vt:lpstr>GCC là gì? </vt:lpstr>
      <vt:lpstr>Cài đặt GCC</vt:lpstr>
      <vt:lpstr>Command Line</vt:lpstr>
      <vt:lpstr>Command Line</vt:lpstr>
      <vt:lpstr>Command Line</vt:lpstr>
      <vt:lpstr>Chương trình  Makefile đơn giản</vt:lpstr>
      <vt:lpstr>PowerPoint 演示文稿</vt:lpstr>
      <vt:lpstr>Why you need makefile?</vt:lpstr>
      <vt:lpstr>What is Makefile?</vt:lpstr>
      <vt:lpstr>From GCC commands to Makefile</vt:lpstr>
      <vt:lpstr>Cài đặt Cygwin</vt:lpstr>
      <vt:lpstr>Rules Makefile</vt:lpstr>
      <vt:lpstr>For examples</vt:lpstr>
      <vt:lpstr>Một số khái niệm cơ bản trong Makefile</vt:lpstr>
      <vt:lpstr>PHONY keyword</vt:lpstr>
      <vt:lpstr>Variables in Makefile</vt:lpstr>
      <vt:lpstr>Print value of variables</vt:lpstr>
      <vt:lpstr>Tài liệu makefile</vt:lpstr>
      <vt:lpstr>Chương trình  Makefile - Vi điều khiển</vt:lpstr>
      <vt:lpstr>Cài đặt Phần mềm</vt:lpstr>
      <vt:lpstr>Bài toán</vt:lpstr>
      <vt:lpstr>Build Process</vt:lpstr>
      <vt:lpstr>Build Process  Bài toán</vt:lpstr>
      <vt:lpstr>Build Process</vt:lpstr>
      <vt:lpstr>Build Process  Bài toán</vt:lpstr>
      <vt:lpstr>Command</vt:lpstr>
      <vt:lpstr>Compiler Options</vt:lpstr>
      <vt:lpstr>Tổng quát hóa Makefile</vt:lpstr>
      <vt:lpstr>Automatic Variables</vt:lpstr>
      <vt:lpstr>‘wildcard’ Characters</vt:lpstr>
      <vt:lpstr>‘foreach’ function</vt:lpstr>
      <vt:lpstr>Make Process</vt:lpstr>
      <vt:lpstr>VPATH</vt:lpstr>
      <vt:lpstr>Pattern Rules</vt:lpstr>
      <vt:lpstr>‘notdir’ – not direct  </vt:lpstr>
      <vt:lpstr>Other Concept in Makefile</vt:lpstr>
      <vt:lpstr>Ifeq &amp; export</vt:lpstr>
      <vt:lpstr>Include Makefile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Makefile</dc:title>
  <dc:creator>nghia111325@cvp.vn</dc:creator>
  <cp:lastModifiedBy>Admin</cp:lastModifiedBy>
  <cp:revision>110</cp:revision>
  <dcterms:created xsi:type="dcterms:W3CDTF">2021-05-12T07:31:00Z</dcterms:created>
  <dcterms:modified xsi:type="dcterms:W3CDTF">2026-02-11T10:28:11Z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7E0ED20D83EE4425B96FAC528038BD25_12</vt:lpwstr>
  </property>
  <property fmtid="{D5CDD505-2E9C-101B-9397-08002B2CF9AE}" pid="3" name="KSOProductBuildVer">
    <vt:lpwstr>2057-12.2.0.23197</vt:lpwstr>
  </property>
</Properties>
</file>